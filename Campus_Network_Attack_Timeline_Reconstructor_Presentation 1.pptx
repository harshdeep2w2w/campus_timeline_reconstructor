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D83F2A-236C-4F35-A7E7-9D6CA948C742}" v="256" dt="2026-10-20T13:27:54.4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3DDDC-09A6-4912-A445-EE5285D07A5A}" type="datetimeFigureOut">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6BB32F-6F82-4116-9FCA-CD8BC606ADFF}" type="slidenum">
              <a:t>‹#›</a:t>
            </a:fld>
            <a:endParaRPr lang="en-US"/>
          </a:p>
        </p:txBody>
      </p:sp>
    </p:spTree>
    <p:extLst>
      <p:ext uri="{BB962C8B-B14F-4D97-AF65-F5344CB8AC3E}">
        <p14:creationId xmlns:p14="http://schemas.microsoft.com/office/powerpoint/2010/main" val="1975911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teacher. Today I am presenting my project called 'Campus Network Attack - Timeline Reconstructor'. In simple words, this project acts like a digital detective for college campus networks. When an attack happens, it reads network logs, finds what the hacker did step-by-step, shows the story on an easy timeline, and draws a visual map of all connected computers.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explain the big picture to your teacher: Think of this project as a CCTV camera playback system, but for computer networks. Usually, network logs are just massive text files with millions of confusing numbers. Our project takes those text files and turns them into a clean story with charts, an interactive timeline, and a visual map. It lets an administrator see who got hacked, when it started, and what data was stolen in just a few clicks.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3 real-world problems we solve: First, college Wi-Fi is crowded with thousands of personal student phones and laptops that might have viruses. Second, IP addresses change constantly throughout the day via DHCP. If an attack happens, it is very hard to tell who had that IP at that exact second. Third, there are simply too many log lines for a human to read. Our project automates this entire process.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Teacher, our goals were simple: 1. Ingest files easily. 2. Fix all timestamps so they line up on a single timeline. 3. Automatically detect suspicious attacks. 4. Present everything in a clear visual dashboard with an interactive map, and allow 1-click PDF export. Every single one of these goals has been fully built and tested in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simple step-by-step workflow: Step 1: The user uploads raw log files. Step 2: The cleaning engine standardizes the timestamps and IP addresses into one format. Step 3: Our detection rules inspect the events to find suspicious hacking patterns. Step 4: The results are displayed on the web dashboard with charts, an interactive graph, and a PDF report generator.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technology stack: We chose Python and Flask because they are lightweight, reliable, and standard in cybersecurity. We chose SQLite because it needs zero configuration and keeps all sensitive college logs completely private on the local machine. For visualization, we used Chart.js for graphs and Cytoscape.js to build the interactive network map. Finally, ReportLab creates professional PDF reports directly.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how we clean up messy logs: In real life, a Zeek log calls the IP 'id.orig_h', while a firewall calls it 'src_ip'. Our code automatically recognizes that these mean the same thing. More importantly, it puts all timestamps on the same clock so events can be sorted in exact order. Without this step, it is impossible to know what happened first during an attack.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how our Correlation Engine connects the dots: A single log line in isolation looks harmless. For example, visiting a website is normal. But if a computer looks up a suspicious website name, and two seconds later opens a hidden connection to that server, that is an attack! Our correlation engine links these clues together so the analyst sees the complete picture.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Teacher, these are the 6 attacks our system catches automatically. 1. Port Scanning: checking doors on a server. 2. Network Sweep: finding other computers on the Wi-Fi. 3. Suspicious DNS: looking up dangerous websites. 4. Unusual Ports: hacker backdoors like port 4444. 5. Traffic Burst: stealing data rapidly. 6. Brute Force: guessing passwords over and over. Every rule is clear, explainable, and stores exact proof of what happened.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test our system, we generated a realistic campus attack story with ~400 events. At 8:00 AM, a student laptop connects to Wi-Fi normally. At 9:00 AM, it suddenly scans the campus web server. At 9:01 AM, it opens a backdoor connection to a hacker server on port 4444. At 9:02 AM, it rapidly uploads stolen files. Then another laptop tries guessing admin passwords. Our system detects and reconstructs every single phase of this attack.</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Main Dashboard. When an administrator opens the website, this is what they see. At the top, 4 stat cards summarize the network: 400 events, 35 hosts, and 10 alerts. The bar chart shows a clear spike at 9:00 AM, making it obvious when the attack occurred. The Top Talkers list immediately exposes the suspicious laptop.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covers the Timeline view. Time is the most important element in an investigation. Our timeline arranges every event in order. If an analyst enters '10.0.1.45', the screen filters down to show only that device's actions. Clicking any event opens a window showing the exact time, ports, and raw proof. This turns hours of manual log reading into seconds of point-and-click investigation.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shows our interactive Network Map. While the timeline tells you 'when' an attack happened, this map shows you 'who talked to whom'. Normal computers appear in blue, servers in yellow, and bad computers glow red. You can drag nodes around and click any computer to see its connections. This makes it extremely easy to explain an attack to a teacher, dean, or police officer.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Finding an attack is only half the job; documenting it is the other half. In our Investigation Workspace, an analyst can open a formal case, bookmark suspicious events, tag suspect computers, and write down notes. Alerts can be marked as Resolved or False Positive. This gives a structured workflow just like professional cybersecurity tools.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highlights our reporting engine. When an investigation is finished, management needs a written report. With one click on the 'Export PDF' button, our Python ReportLab engine compiles an executive-ready PDF report. It includes a summary, chronological table, alert evidence, and analyst notes. Users can also export the data as CSV or JSON.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Teacher, we did not just write the application; we thoroughly tested it. We wrote an automated test suite of 68 individual test cases using pytest. All 68 tests passed with 100% success in under 13 seconds. This proves that our parsers don't crash on bad files, our detection rules don't produce false alarms, and our PDF reports generate smoothly every single time.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our project solves a major real-world headache for college IT teams. It turns chaotic network logs into a simple timeline and visual map, making it fast and easy to catch attackers. In the future, we hope to add machine learning for zero-day threats and live packet capture. Thank you very much, teacher. I am now ready for your questions and to show the live demo.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914400"/>
            <a:ext cx="9997135" cy="5029200"/>
          </a:xfrm>
          <a:prstGeom prst="roundRect">
            <a:avLst/>
          </a:prstGeom>
          <a:solidFill>
            <a:srgbClr val="101728"/>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463040" y="1371600"/>
            <a:ext cx="3291840" cy="384048"/>
          </a:xfrm>
          <a:prstGeom prst="roundRect">
            <a:avLst/>
          </a:prstGeom>
          <a:solidFill>
            <a:srgbClr val="1E3A8A"/>
          </a:solidFill>
          <a:ln>
            <a:solidFill>
              <a:srgbClr val="38BDF8"/>
            </a:solidFill>
          </a:ln>
        </p:spPr>
        <p:style>
          <a:lnRef idx="1">
            <a:schemeClr val="accent1"/>
          </a:lnRef>
          <a:fillRef idx="3">
            <a:schemeClr val="accent1"/>
          </a:fillRef>
          <a:effectRef idx="2">
            <a:schemeClr val="accent1"/>
          </a:effectRef>
          <a:fontRef idx="minor">
            <a:schemeClr val="lt1"/>
          </a:fontRef>
        </p:style>
        <p:txBody>
          <a:bodyPr tIns="54864" rtlCol="0" anchor="ctr"/>
          <a:lstStyle/>
          <a:p>
            <a:pPr algn="ctr">
              <a:defRPr sz="1000" b="1">
                <a:solidFill>
                  <a:srgbClr val="F8FAFC"/>
                </a:solidFill>
                <a:latin typeface="Arial"/>
              </a:defRPr>
            </a:pPr>
            <a:r>
              <a:t>B.TECH CSE (CYBER SECURITY)</a:t>
            </a:r>
          </a:p>
        </p:txBody>
      </p:sp>
      <p:sp>
        <p:nvSpPr>
          <p:cNvPr id="5" name="TextBox 4"/>
          <p:cNvSpPr txBox="1"/>
          <p:nvPr/>
        </p:nvSpPr>
        <p:spPr>
          <a:xfrm>
            <a:off x="1463040" y="2011680"/>
            <a:ext cx="9235440" cy="1463040"/>
          </a:xfrm>
          <a:prstGeom prst="rect">
            <a:avLst/>
          </a:prstGeom>
          <a:noFill/>
        </p:spPr>
        <p:txBody>
          <a:bodyPr wrap="square">
            <a:spAutoFit/>
          </a:bodyPr>
          <a:lstStyle/>
          <a:p>
            <a:pPr>
              <a:defRPr sz="3800" b="1">
                <a:solidFill>
                  <a:srgbClr val="F8FAFC"/>
                </a:solidFill>
                <a:latin typeface="Arial"/>
              </a:defRPr>
            </a:pPr>
            <a:r>
              <a:t>Campus Network Attack</a:t>
            </a:r>
          </a:p>
          <a:p>
            <a:pPr>
              <a:defRPr sz="3800" b="1">
                <a:solidFill>
                  <a:srgbClr val="38BDF8"/>
                </a:solidFill>
                <a:latin typeface="Arial"/>
              </a:defRPr>
            </a:pPr>
            <a:r>
              <a:t>Timeline Reconstructor</a:t>
            </a:r>
          </a:p>
        </p:txBody>
      </p:sp>
      <p:sp>
        <p:nvSpPr>
          <p:cNvPr id="6" name="TextBox 5"/>
          <p:cNvSpPr txBox="1"/>
          <p:nvPr/>
        </p:nvSpPr>
        <p:spPr>
          <a:xfrm>
            <a:off x="1463040" y="3566160"/>
            <a:ext cx="9235440" cy="640080"/>
          </a:xfrm>
          <a:prstGeom prst="rect">
            <a:avLst/>
          </a:prstGeom>
          <a:noFill/>
        </p:spPr>
        <p:txBody>
          <a:bodyPr wrap="square">
            <a:spAutoFit/>
          </a:bodyPr>
          <a:lstStyle/>
          <a:p>
            <a:pPr>
              <a:defRPr sz="1500">
                <a:solidFill>
                  <a:srgbClr val="CBD5E1"/>
                </a:solidFill>
                <a:latin typeface="Arial"/>
              </a:defRPr>
            </a:pPr>
            <a:r>
              <a:t>A Smart Security Tool that Rebuilds Cyber Attack Timelines from Campus Network Logs</a:t>
            </a:r>
          </a:p>
        </p:txBody>
      </p:sp>
      <p:sp>
        <p:nvSpPr>
          <p:cNvPr id="7" name="Rounded Rectangle 6"/>
          <p:cNvSpPr/>
          <p:nvPr/>
        </p:nvSpPr>
        <p:spPr>
          <a:xfrm>
            <a:off x="1463040" y="4389120"/>
            <a:ext cx="2926080" cy="1097280"/>
          </a:xfrm>
          <a:prstGeom prst="roundRect">
            <a:avLst/>
          </a:prstGeom>
          <a:solidFill>
            <a:srgbClr val="161E31"/>
          </a:solidFill>
          <a:ln>
            <a:solidFill>
              <a:srgbClr val="2D3C5A"/>
            </a:solidFill>
          </a:ln>
        </p:spPr>
        <p:style>
          <a:lnRef idx="1">
            <a:schemeClr val="accent1"/>
          </a:lnRef>
          <a:fillRef idx="3">
            <a:schemeClr val="accent1"/>
          </a:fillRef>
          <a:effectRef idx="2">
            <a:schemeClr val="accent1"/>
          </a:effectRef>
          <a:fontRef idx="minor">
            <a:schemeClr val="lt1"/>
          </a:fontRef>
        </p:style>
        <p:txBody>
          <a:bodyPr lIns="137160" tIns="137160" rtlCol="0" anchor="ctr"/>
          <a:lstStyle/>
          <a:p>
            <a:pPr algn="ctr">
              <a:defRPr sz="900" b="1">
                <a:solidFill>
                  <a:srgbClr val="38BDF8"/>
                </a:solidFill>
                <a:latin typeface="Arial"/>
              </a:defRPr>
            </a:pPr>
            <a:r>
              <a:t>WHAT IT DOES</a:t>
            </a:r>
          </a:p>
          <a:p>
            <a:pPr>
              <a:defRPr sz="1100" b="1">
                <a:solidFill>
                  <a:srgbClr val="F8FAFC"/>
                </a:solidFill>
                <a:latin typeface="Arial"/>
              </a:defRPr>
            </a:pPr>
            <a:r>
              <a:t>Finds hackers &amp; rebuilds the attack story</a:t>
            </a:r>
          </a:p>
        </p:txBody>
      </p:sp>
      <p:sp>
        <p:nvSpPr>
          <p:cNvPr id="8" name="Rounded Rectangle 7"/>
          <p:cNvSpPr/>
          <p:nvPr/>
        </p:nvSpPr>
        <p:spPr>
          <a:xfrm>
            <a:off x="4572000" y="4389120"/>
            <a:ext cx="2926080" cy="1097280"/>
          </a:xfrm>
          <a:prstGeom prst="roundRect">
            <a:avLst/>
          </a:prstGeom>
          <a:solidFill>
            <a:srgbClr val="161E31"/>
          </a:solidFill>
          <a:ln>
            <a:solidFill>
              <a:srgbClr val="2D3C5A"/>
            </a:solidFill>
          </a:ln>
        </p:spPr>
        <p:style>
          <a:lnRef idx="1">
            <a:schemeClr val="accent1"/>
          </a:lnRef>
          <a:fillRef idx="3">
            <a:schemeClr val="accent1"/>
          </a:fillRef>
          <a:effectRef idx="2">
            <a:schemeClr val="accent1"/>
          </a:effectRef>
          <a:fontRef idx="minor">
            <a:schemeClr val="lt1"/>
          </a:fontRef>
        </p:style>
        <p:txBody>
          <a:bodyPr lIns="137160" tIns="137160" rtlCol="0" anchor="ctr"/>
          <a:lstStyle/>
          <a:p>
            <a:pPr algn="ctr">
              <a:defRPr sz="900" b="1">
                <a:solidFill>
                  <a:srgbClr val="10B981"/>
                </a:solidFill>
                <a:latin typeface="Arial"/>
              </a:defRPr>
            </a:pPr>
            <a:r>
              <a:t>EASY TO USE</a:t>
            </a:r>
          </a:p>
          <a:p>
            <a:pPr>
              <a:defRPr sz="1100" b="1">
                <a:solidFill>
                  <a:srgbClr val="F8FAFC"/>
                </a:solidFill>
                <a:latin typeface="Arial"/>
              </a:defRPr>
            </a:pPr>
            <a:r>
              <a:t>Visual dashboard with interactive network map</a:t>
            </a:r>
          </a:p>
        </p:txBody>
      </p:sp>
      <p:sp>
        <p:nvSpPr>
          <p:cNvPr id="9" name="Rounded Rectangle 8"/>
          <p:cNvSpPr/>
          <p:nvPr/>
        </p:nvSpPr>
        <p:spPr>
          <a:xfrm>
            <a:off x="7680960" y="4389120"/>
            <a:ext cx="2926080" cy="1097280"/>
          </a:xfrm>
          <a:prstGeom prst="roundRect">
            <a:avLst/>
          </a:prstGeom>
          <a:solidFill>
            <a:srgbClr val="161E31"/>
          </a:solidFill>
          <a:ln>
            <a:solidFill>
              <a:srgbClr val="2D3C5A"/>
            </a:solidFill>
          </a:ln>
        </p:spPr>
        <p:style>
          <a:lnRef idx="1">
            <a:schemeClr val="accent1"/>
          </a:lnRef>
          <a:fillRef idx="3">
            <a:schemeClr val="accent1"/>
          </a:fillRef>
          <a:effectRef idx="2">
            <a:schemeClr val="accent1"/>
          </a:effectRef>
          <a:fontRef idx="minor">
            <a:schemeClr val="lt1"/>
          </a:fontRef>
        </p:style>
        <p:txBody>
          <a:bodyPr lIns="137160" tIns="137160" rtlCol="0" anchor="ctr"/>
          <a:lstStyle/>
          <a:p>
            <a:pPr algn="ctr">
              <a:defRPr sz="900" b="1">
                <a:solidFill>
                  <a:srgbClr val="F59E0B"/>
                </a:solidFill>
                <a:latin typeface="Arial"/>
              </a:defRPr>
            </a:pPr>
            <a:r>
              <a:t>VERIFIED &amp; READY</a:t>
            </a:r>
          </a:p>
          <a:p>
            <a:pPr>
              <a:defRPr sz="1100" b="1">
                <a:solidFill>
                  <a:srgbClr val="F8FAFC"/>
                </a:solidFill>
                <a:latin typeface="Arial"/>
              </a:defRPr>
            </a:pPr>
            <a:r>
              <a:t>Passed all 68 automated software tests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What is This Project? (The Big Picture)</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200055"/>
          </a:xfrm>
          <a:prstGeom prst="rect">
            <a:avLst/>
          </a:prstGeom>
          <a:noFill/>
        </p:spPr>
        <p:txBody>
          <a:bodyPr wrap="square" lIns="0" tIns="0" rIns="0" bIns="0" anchor="t">
            <a:spAutoFit/>
          </a:bodyPr>
          <a:lstStyle/>
          <a:p>
            <a:pPr>
              <a:defRPr sz="1300" b="1">
                <a:solidFill>
                  <a:srgbClr val="38BDF8"/>
                </a:solidFill>
                <a:latin typeface="Arial"/>
              </a:defRPr>
            </a:pPr>
            <a:r>
              <a:rPr lang="en-US"/>
              <a:t>     The Simple Idea Behind the Project</a:t>
            </a:r>
            <a:endParaRPr lang="en-US">
              <a:cs typeface="Arial"/>
            </a:endParaRPr>
          </a:p>
        </p:txBody>
      </p:sp>
      <p:sp>
        <p:nvSpPr>
          <p:cNvPr id="8" name="TextBox 7"/>
          <p:cNvSpPr txBox="1"/>
          <p:nvPr/>
        </p:nvSpPr>
        <p:spPr>
          <a:xfrm>
            <a:off x="914400" y="2011680"/>
            <a:ext cx="475488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Like a CCTV for Networks: </a:t>
            </a:r>
            <a:r>
              <a:rPr b="0">
                <a:solidFill>
                  <a:srgbClr val="CBD5E1"/>
                </a:solidFill>
              </a:rPr>
              <a:t>Just like security cameras record people entering buildings, network routers and firewalls record every website visited and computer connection.</a:t>
            </a:r>
          </a:p>
          <a:p>
            <a:pPr>
              <a:spcAft>
                <a:spcPts val="1000"/>
              </a:spcAft>
              <a:defRPr sz="1200">
                <a:latin typeface="Arial"/>
              </a:defRPr>
            </a:pPr>
            <a:r>
              <a:rPr b="1">
                <a:solidFill>
                  <a:srgbClr val="38BDF8"/>
                </a:solidFill>
              </a:rPr>
              <a:t>• </a:t>
            </a:r>
            <a:r>
              <a:rPr b="1">
                <a:solidFill>
                  <a:srgbClr val="F8FAFC"/>
                </a:solidFill>
              </a:rPr>
              <a:t>The Problem with Logs: </a:t>
            </a:r>
            <a:r>
              <a:rPr b="0">
                <a:solidFill>
                  <a:srgbClr val="CBD5E1"/>
                </a:solidFill>
              </a:rPr>
              <a:t>These logs are stored in thousands of plain text lines. Reading them by hand is slow and very confusing.</a:t>
            </a:r>
          </a:p>
          <a:p>
            <a:pPr>
              <a:spcAft>
                <a:spcPts val="1000"/>
              </a:spcAft>
              <a:defRPr sz="1200">
                <a:latin typeface="Arial"/>
              </a:defRPr>
            </a:pPr>
            <a:r>
              <a:rPr b="1">
                <a:solidFill>
                  <a:srgbClr val="38BDF8"/>
                </a:solidFill>
              </a:rPr>
              <a:t>• </a:t>
            </a:r>
            <a:r>
              <a:rPr b="1">
                <a:solidFill>
                  <a:srgbClr val="F8FAFC"/>
                </a:solidFill>
              </a:rPr>
              <a:t>What Our Software Does: </a:t>
            </a:r>
            <a:r>
              <a:rPr b="0">
                <a:solidFill>
                  <a:srgbClr val="CBD5E1"/>
                </a:solidFill>
              </a:rPr>
              <a:t>It collects all these messy logs, cleans them up, connects the dots, and reconstructs the exact story of how a hacker broke in.</a:t>
            </a:r>
          </a:p>
          <a:p>
            <a:pPr>
              <a:spcAft>
                <a:spcPts val="1000"/>
              </a:spcAft>
              <a:defRPr sz="1200">
                <a:latin typeface="Arial"/>
              </a:defRPr>
            </a:pPr>
            <a:r>
              <a:rPr b="1">
                <a:solidFill>
                  <a:srgbClr val="38BDF8"/>
                </a:solidFill>
              </a:rPr>
              <a:t>• </a:t>
            </a:r>
            <a:r>
              <a:rPr b="1">
                <a:solidFill>
                  <a:srgbClr val="F8FAFC"/>
                </a:solidFill>
              </a:rPr>
              <a:t>Who Benefits: </a:t>
            </a:r>
            <a:r>
              <a:rPr b="0">
                <a:solidFill>
                  <a:srgbClr val="CBD5E1"/>
                </a:solidFill>
              </a:rPr>
              <a:t>College IT teams, security teachers, students, and network administrators who need fast answers when something goes wrong.</a:t>
            </a:r>
          </a:p>
        </p:txBody>
      </p:sp>
      <p:sp>
        <p:nvSpPr>
          <p:cNvPr id="9" name="Rounded Rectangle 8"/>
          <p:cNvSpPr/>
          <p:nvPr/>
        </p:nvSpPr>
        <p:spPr>
          <a:xfrm>
            <a:off x="6217920" y="1463040"/>
            <a:ext cx="52120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200055"/>
          </a:xfrm>
          <a:prstGeom prst="rect">
            <a:avLst/>
          </a:prstGeom>
          <a:noFill/>
        </p:spPr>
        <p:txBody>
          <a:bodyPr wrap="square" lIns="0" tIns="0" rIns="0" bIns="0" anchor="t">
            <a:spAutoFit/>
          </a:bodyPr>
          <a:lstStyle/>
          <a:p>
            <a:pPr>
              <a:defRPr sz="1300" b="1">
                <a:solidFill>
                  <a:srgbClr val="10B981"/>
                </a:solidFill>
                <a:latin typeface="Arial"/>
              </a:defRPr>
            </a:pPr>
            <a:r>
              <a:rPr lang="en-US"/>
              <a:t>    </a:t>
            </a:r>
            <a:r>
              <a:t>What Can the User Do With It?</a:t>
            </a:r>
          </a:p>
        </p:txBody>
      </p:sp>
      <p:sp>
        <p:nvSpPr>
          <p:cNvPr id="11" name="TextBox 10"/>
          <p:cNvSpPr txBox="1"/>
          <p:nvPr/>
        </p:nvSpPr>
        <p:spPr>
          <a:xfrm>
            <a:off x="6400800" y="2011680"/>
            <a:ext cx="484632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Upload Any Log File: </a:t>
            </a:r>
            <a:r>
              <a:rPr b="0">
                <a:solidFill>
                  <a:srgbClr val="CBD5E1"/>
                </a:solidFill>
              </a:rPr>
              <a:t>Supports common file types like CSV, Excel files, JSON, and Zeek network logs.</a:t>
            </a:r>
          </a:p>
          <a:p>
            <a:pPr>
              <a:spcAft>
                <a:spcPts val="1000"/>
              </a:spcAft>
              <a:defRPr sz="1200">
                <a:latin typeface="Arial"/>
              </a:defRPr>
            </a:pPr>
            <a:r>
              <a:rPr b="1">
                <a:solidFill>
                  <a:srgbClr val="38BDF8"/>
                </a:solidFill>
              </a:rPr>
              <a:t>• </a:t>
            </a:r>
            <a:r>
              <a:rPr b="1">
                <a:solidFill>
                  <a:srgbClr val="F8FAFC"/>
                </a:solidFill>
              </a:rPr>
              <a:t>See the Attack Timeline: </a:t>
            </a:r>
            <a:r>
              <a:rPr b="0">
                <a:solidFill>
                  <a:srgbClr val="CBD5E1"/>
                </a:solidFill>
              </a:rPr>
              <a:t>Shows every single event in order of time (what happened first, second, third).</a:t>
            </a:r>
          </a:p>
          <a:p>
            <a:pPr>
              <a:spcAft>
                <a:spcPts val="1000"/>
              </a:spcAft>
              <a:defRPr sz="1200">
                <a:latin typeface="Arial"/>
              </a:defRPr>
            </a:pPr>
            <a:r>
              <a:rPr b="1">
                <a:solidFill>
                  <a:srgbClr val="38BDF8"/>
                </a:solidFill>
              </a:rPr>
              <a:t>• </a:t>
            </a:r>
            <a:r>
              <a:rPr b="1">
                <a:solidFill>
                  <a:srgbClr val="F8FAFC"/>
                </a:solidFill>
              </a:rPr>
              <a:t>Spot Dangerous Activity: </a:t>
            </a:r>
            <a:r>
              <a:rPr b="0">
                <a:solidFill>
                  <a:srgbClr val="CBD5E1"/>
                </a:solidFill>
              </a:rPr>
              <a:t>Automatically alerts you if someone is scanning ports, downloading viruses, or stealing data.</a:t>
            </a:r>
          </a:p>
          <a:p>
            <a:pPr>
              <a:spcAft>
                <a:spcPts val="1000"/>
              </a:spcAft>
              <a:defRPr sz="1200">
                <a:latin typeface="Arial"/>
              </a:defRPr>
            </a:pPr>
            <a:r>
              <a:rPr b="1">
                <a:solidFill>
                  <a:srgbClr val="38BDF8"/>
                </a:solidFill>
              </a:rPr>
              <a:t>• </a:t>
            </a:r>
            <a:r>
              <a:rPr b="1">
                <a:solidFill>
                  <a:srgbClr val="F8FAFC"/>
                </a:solidFill>
              </a:rPr>
              <a:t>View an Interactive Map: </a:t>
            </a:r>
            <a:r>
              <a:rPr b="0">
                <a:solidFill>
                  <a:srgbClr val="CBD5E1"/>
                </a:solidFill>
              </a:rPr>
              <a:t>Displays a visual diagram of all computers talking to each other (bad computers turn red).</a:t>
            </a:r>
          </a:p>
          <a:p>
            <a:pPr>
              <a:spcAft>
                <a:spcPts val="1000"/>
              </a:spcAft>
              <a:defRPr sz="1200">
                <a:latin typeface="Arial"/>
              </a:defRPr>
            </a:pPr>
            <a:r>
              <a:rPr b="1">
                <a:solidFill>
                  <a:srgbClr val="38BDF8"/>
                </a:solidFill>
              </a:rPr>
              <a:t>• </a:t>
            </a:r>
            <a:r>
              <a:rPr b="1">
                <a:solidFill>
                  <a:srgbClr val="F8FAFC"/>
                </a:solidFill>
              </a:rPr>
              <a:t>Download a PDF Report: </a:t>
            </a:r>
            <a:r>
              <a:rPr b="0">
                <a:solidFill>
                  <a:srgbClr val="CBD5E1"/>
                </a:solidFill>
              </a:rPr>
              <a:t>With 1 click, creates a formal PDF incident report ready to print or email.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Why is Campus Network Security So Difficult?</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29184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2926080" cy="320040"/>
          </a:xfrm>
          <a:prstGeom prst="rect">
            <a:avLst/>
          </a:prstGeom>
          <a:noFill/>
        </p:spPr>
        <p:txBody>
          <a:bodyPr wrap="square" lIns="0" tIns="0" rIns="0" bIns="0">
            <a:spAutoFit/>
          </a:bodyPr>
          <a:lstStyle/>
          <a:p>
            <a:pPr>
              <a:defRPr sz="1300" b="1">
                <a:solidFill>
                  <a:srgbClr val="EF4444"/>
                </a:solidFill>
                <a:latin typeface="Arial"/>
              </a:defRPr>
            </a:pPr>
            <a:r>
              <a:t>1. Thousands of Unknown Devices</a:t>
            </a:r>
          </a:p>
        </p:txBody>
      </p:sp>
      <p:sp>
        <p:nvSpPr>
          <p:cNvPr id="8" name="TextBox 7"/>
          <p:cNvSpPr txBox="1"/>
          <p:nvPr/>
        </p:nvSpPr>
        <p:spPr>
          <a:xfrm>
            <a:off x="914400" y="2011680"/>
            <a:ext cx="2926080" cy="420624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Laptops &amp; Phones Everywhere: </a:t>
            </a:r>
            <a:r>
              <a:rPr b="0">
                <a:solidFill>
                  <a:srgbClr val="CBD5E1"/>
                </a:solidFill>
              </a:rPr>
              <a:t>Students, teachers, and guests bring their own laptops and phones onto campus Wi-Fi.</a:t>
            </a:r>
          </a:p>
          <a:p>
            <a:pPr>
              <a:spcAft>
                <a:spcPts val="1000"/>
              </a:spcAft>
              <a:defRPr sz="1200">
                <a:latin typeface="Arial"/>
              </a:defRPr>
            </a:pPr>
            <a:r>
              <a:rPr b="1">
                <a:solidFill>
                  <a:srgbClr val="38BDF8"/>
                </a:solidFill>
              </a:rPr>
              <a:t>• </a:t>
            </a:r>
            <a:r>
              <a:rPr b="1">
                <a:solidFill>
                  <a:srgbClr val="F8FAFC"/>
                </a:solidFill>
              </a:rPr>
              <a:t>No Control: </a:t>
            </a:r>
            <a:r>
              <a:rPr b="0">
                <a:solidFill>
                  <a:srgbClr val="CBD5E1"/>
                </a:solidFill>
              </a:rPr>
              <a:t>The college IT team cannot control what software or games students install on their personal devices.</a:t>
            </a:r>
          </a:p>
          <a:p>
            <a:pPr>
              <a:spcAft>
                <a:spcPts val="1000"/>
              </a:spcAft>
              <a:defRPr sz="1200">
                <a:latin typeface="Arial"/>
              </a:defRPr>
            </a:pPr>
            <a:r>
              <a:rPr b="1">
                <a:solidFill>
                  <a:srgbClr val="38BDF8"/>
                </a:solidFill>
              </a:rPr>
              <a:t>• </a:t>
            </a:r>
            <a:r>
              <a:rPr b="1">
                <a:solidFill>
                  <a:srgbClr val="F8FAFC"/>
                </a:solidFill>
              </a:rPr>
              <a:t>Accidental Infection: </a:t>
            </a:r>
            <a:r>
              <a:rPr b="0">
                <a:solidFill>
                  <a:srgbClr val="CBD5E1"/>
                </a:solidFill>
              </a:rPr>
              <a:t>One infected laptop can silently attack college lab servers from inside the Wi-Fi.</a:t>
            </a:r>
          </a:p>
        </p:txBody>
      </p:sp>
      <p:sp>
        <p:nvSpPr>
          <p:cNvPr id="9" name="Rounded Rectangle 8"/>
          <p:cNvSpPr/>
          <p:nvPr/>
        </p:nvSpPr>
        <p:spPr>
          <a:xfrm>
            <a:off x="4389120" y="1463040"/>
            <a:ext cx="329184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627632"/>
            <a:ext cx="2926080" cy="320040"/>
          </a:xfrm>
          <a:prstGeom prst="rect">
            <a:avLst/>
          </a:prstGeom>
          <a:noFill/>
        </p:spPr>
        <p:txBody>
          <a:bodyPr wrap="square" lIns="0" tIns="0" rIns="0" bIns="0">
            <a:spAutoFit/>
          </a:bodyPr>
          <a:lstStyle/>
          <a:p>
            <a:pPr>
              <a:defRPr sz="1300" b="1">
                <a:solidFill>
                  <a:srgbClr val="F59E0B"/>
                </a:solidFill>
                <a:latin typeface="Arial"/>
              </a:defRPr>
            </a:pPr>
            <a:r>
              <a:t>2. IP Addresses Keep Changing</a:t>
            </a:r>
          </a:p>
        </p:txBody>
      </p:sp>
      <p:sp>
        <p:nvSpPr>
          <p:cNvPr id="11" name="TextBox 10"/>
          <p:cNvSpPr txBox="1"/>
          <p:nvPr/>
        </p:nvSpPr>
        <p:spPr>
          <a:xfrm>
            <a:off x="4572000" y="2011680"/>
            <a:ext cx="2926080" cy="420624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Dynamic DHCP: </a:t>
            </a:r>
            <a:r>
              <a:rPr b="0">
                <a:solidFill>
                  <a:srgbClr val="CBD5E1"/>
                </a:solidFill>
              </a:rPr>
              <a:t>When a student walks from the library to the canteen, their laptop disconnects and gets a brand new IP address.</a:t>
            </a:r>
          </a:p>
          <a:p>
            <a:pPr>
              <a:spcAft>
                <a:spcPts val="1000"/>
              </a:spcAft>
              <a:defRPr sz="1200">
                <a:latin typeface="Arial"/>
              </a:defRPr>
            </a:pPr>
            <a:r>
              <a:rPr b="1">
                <a:solidFill>
                  <a:srgbClr val="38BDF8"/>
                </a:solidFill>
              </a:rPr>
              <a:t>• </a:t>
            </a:r>
            <a:r>
              <a:rPr b="1">
                <a:solidFill>
                  <a:srgbClr val="F8FAFC"/>
                </a:solidFill>
              </a:rPr>
              <a:t>Confusion during Investigation: </a:t>
            </a:r>
            <a:r>
              <a:rPr b="0">
                <a:solidFill>
                  <a:srgbClr val="CBD5E1"/>
                </a:solidFill>
              </a:rPr>
              <a:t>An IP address that did an attack at 9:00 AM might belong to a totally innocent student by 10:00 AM!</a:t>
            </a:r>
          </a:p>
          <a:p>
            <a:pPr>
              <a:spcAft>
                <a:spcPts val="1000"/>
              </a:spcAft>
              <a:defRPr sz="1200">
                <a:latin typeface="Arial"/>
              </a:defRPr>
            </a:pPr>
            <a:r>
              <a:rPr b="1">
                <a:solidFill>
                  <a:srgbClr val="38BDF8"/>
                </a:solidFill>
              </a:rPr>
              <a:t>• </a:t>
            </a:r>
            <a:r>
              <a:rPr b="1">
                <a:solidFill>
                  <a:srgbClr val="F8FAFC"/>
                </a:solidFill>
              </a:rPr>
              <a:t>Hard to Track: </a:t>
            </a:r>
            <a:r>
              <a:rPr b="0">
                <a:solidFill>
                  <a:srgbClr val="CBD5E1"/>
                </a:solidFill>
              </a:rPr>
              <a:t>Tracking who owned which IP at which minute is very difficult without our tool.</a:t>
            </a:r>
          </a:p>
        </p:txBody>
      </p:sp>
      <p:sp>
        <p:nvSpPr>
          <p:cNvPr id="12" name="Rounded Rectangle 11"/>
          <p:cNvSpPr/>
          <p:nvPr/>
        </p:nvSpPr>
        <p:spPr>
          <a:xfrm>
            <a:off x="8046720" y="1463040"/>
            <a:ext cx="33832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0" y="1627632"/>
            <a:ext cx="3017520" cy="320040"/>
          </a:xfrm>
          <a:prstGeom prst="rect">
            <a:avLst/>
          </a:prstGeom>
          <a:noFill/>
        </p:spPr>
        <p:txBody>
          <a:bodyPr wrap="square" lIns="0" tIns="0" rIns="0" bIns="0">
            <a:spAutoFit/>
          </a:bodyPr>
          <a:lstStyle/>
          <a:p>
            <a:pPr>
              <a:defRPr sz="1300" b="1">
                <a:solidFill>
                  <a:srgbClr val="38BDF8"/>
                </a:solidFill>
                <a:latin typeface="Arial"/>
              </a:defRPr>
            </a:pPr>
            <a:r>
              <a:t>3. Millions of Log Lines</a:t>
            </a:r>
          </a:p>
        </p:txBody>
      </p:sp>
      <p:sp>
        <p:nvSpPr>
          <p:cNvPr id="14" name="TextBox 13"/>
          <p:cNvSpPr txBox="1"/>
          <p:nvPr/>
        </p:nvSpPr>
        <p:spPr>
          <a:xfrm>
            <a:off x="8229600" y="2011680"/>
            <a:ext cx="3017520" cy="420624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Information Overload: </a:t>
            </a:r>
            <a:r>
              <a:rPr b="0">
                <a:solidFill>
                  <a:srgbClr val="CBD5E1"/>
                </a:solidFill>
              </a:rPr>
              <a:t>A normal campus produces over 100,000 log entries every single hour.</a:t>
            </a:r>
          </a:p>
          <a:p>
            <a:pPr>
              <a:spcAft>
                <a:spcPts val="1000"/>
              </a:spcAft>
              <a:defRPr sz="1200">
                <a:latin typeface="Arial"/>
              </a:defRPr>
            </a:pPr>
            <a:r>
              <a:rPr b="1">
                <a:solidFill>
                  <a:srgbClr val="38BDF8"/>
                </a:solidFill>
              </a:rPr>
              <a:t>• </a:t>
            </a:r>
            <a:r>
              <a:rPr b="1">
                <a:solidFill>
                  <a:srgbClr val="F8FAFC"/>
                </a:solidFill>
              </a:rPr>
              <a:t>Humanly Impossible: </a:t>
            </a:r>
            <a:r>
              <a:rPr b="0">
                <a:solidFill>
                  <a:srgbClr val="CBD5E1"/>
                </a:solidFill>
              </a:rPr>
              <a:t>No human can manually read text logs fast enough during a live cyber attack.</a:t>
            </a:r>
          </a:p>
          <a:p>
            <a:pPr>
              <a:spcAft>
                <a:spcPts val="1000"/>
              </a:spcAft>
              <a:defRPr sz="1200">
                <a:latin typeface="Arial"/>
              </a:defRPr>
            </a:pPr>
            <a:r>
              <a:rPr b="1">
                <a:solidFill>
                  <a:srgbClr val="38BDF8"/>
                </a:solidFill>
              </a:rPr>
              <a:t>• </a:t>
            </a:r>
            <a:r>
              <a:rPr b="1">
                <a:solidFill>
                  <a:srgbClr val="F8FAFC"/>
                </a:solidFill>
              </a:rPr>
              <a:t>Delayed Action: </a:t>
            </a:r>
            <a:r>
              <a:rPr b="0">
                <a:solidFill>
                  <a:srgbClr val="CBD5E1"/>
                </a:solidFill>
              </a:rPr>
              <a:t>By the time the IT team notices, the attacker has already stolen exam papers or sensitive student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Project Goals: What We Built</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200055"/>
          </a:xfrm>
          <a:prstGeom prst="rect">
            <a:avLst/>
          </a:prstGeom>
          <a:noFill/>
        </p:spPr>
        <p:txBody>
          <a:bodyPr wrap="square" lIns="0" tIns="0" rIns="0" bIns="0" anchor="t">
            <a:spAutoFit/>
          </a:bodyPr>
          <a:lstStyle/>
          <a:p>
            <a:pPr>
              <a:defRPr sz="1300" b="1">
                <a:solidFill>
                  <a:srgbClr val="38BDF8"/>
                </a:solidFill>
                <a:latin typeface="Arial"/>
              </a:defRPr>
            </a:pPr>
            <a:r>
              <a:rPr lang="en-US"/>
              <a:t>    </a:t>
            </a:r>
            <a:r>
              <a:t>Key Goals We Set Out to Achieve</a:t>
            </a:r>
          </a:p>
        </p:txBody>
      </p:sp>
      <p:sp>
        <p:nvSpPr>
          <p:cNvPr id="8" name="TextBox 7"/>
          <p:cNvSpPr txBox="1"/>
          <p:nvPr/>
        </p:nvSpPr>
        <p:spPr>
          <a:xfrm>
            <a:off x="914400" y="2011680"/>
            <a:ext cx="475488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Goal 1: Read Any Log File: </a:t>
            </a:r>
            <a:r>
              <a:rPr b="0">
                <a:solidFill>
                  <a:srgbClr val="CBD5E1"/>
                </a:solidFill>
              </a:rPr>
              <a:t>Make a system that can accept logs from different firewalls, Wi-Fi routers, and web servers without crashing.</a:t>
            </a:r>
          </a:p>
          <a:p>
            <a:pPr>
              <a:spcAft>
                <a:spcPts val="1000"/>
              </a:spcAft>
              <a:defRPr sz="1200">
                <a:latin typeface="Arial"/>
              </a:defRPr>
            </a:pPr>
            <a:r>
              <a:rPr b="1">
                <a:solidFill>
                  <a:srgbClr val="38BDF8"/>
                </a:solidFill>
              </a:rPr>
              <a:t>• </a:t>
            </a:r>
            <a:r>
              <a:rPr b="1">
                <a:solidFill>
                  <a:srgbClr val="F8FAFC"/>
                </a:solidFill>
              </a:rPr>
              <a:t>Goal 2: Fix Messy Time &amp; Dates: </a:t>
            </a:r>
            <a:r>
              <a:rPr b="0">
                <a:solidFill>
                  <a:srgbClr val="CBD5E1"/>
                </a:solidFill>
              </a:rPr>
              <a:t>Convert all different time formats (like Unix seconds, AM/PM, and dates) into one unified clock.</a:t>
            </a:r>
          </a:p>
          <a:p>
            <a:pPr>
              <a:spcAft>
                <a:spcPts val="1000"/>
              </a:spcAft>
              <a:defRPr sz="1200">
                <a:latin typeface="Arial"/>
              </a:defRPr>
            </a:pPr>
            <a:r>
              <a:rPr b="1">
                <a:solidFill>
                  <a:srgbClr val="38BDF8"/>
                </a:solidFill>
              </a:rPr>
              <a:t>• </a:t>
            </a:r>
            <a:r>
              <a:rPr b="1">
                <a:solidFill>
                  <a:srgbClr val="F8FAFC"/>
                </a:solidFill>
              </a:rPr>
              <a:t>Goal 3: Catch Attacks Automatically: </a:t>
            </a:r>
            <a:r>
              <a:rPr b="0">
                <a:solidFill>
                  <a:srgbClr val="CBD5E1"/>
                </a:solidFill>
              </a:rPr>
              <a:t>Build smart rules to detect hacking behavior like port scanning, brute force, and data theft.</a:t>
            </a:r>
          </a:p>
          <a:p>
            <a:pPr>
              <a:spcAft>
                <a:spcPts val="1000"/>
              </a:spcAft>
              <a:defRPr sz="1200">
                <a:latin typeface="Arial"/>
              </a:defRPr>
            </a:pPr>
            <a:r>
              <a:rPr b="1">
                <a:solidFill>
                  <a:srgbClr val="38BDF8"/>
                </a:solidFill>
              </a:rPr>
              <a:t>• </a:t>
            </a:r>
            <a:r>
              <a:rPr b="1">
                <a:solidFill>
                  <a:srgbClr val="F8FAFC"/>
                </a:solidFill>
              </a:rPr>
              <a:t>Goal 4: Link Related Events: </a:t>
            </a:r>
            <a:r>
              <a:rPr b="0">
                <a:solidFill>
                  <a:srgbClr val="CBD5E1"/>
                </a:solidFill>
              </a:rPr>
              <a:t>Connect the dots so the analyst sees the full chain of events, not just isolated alerts.</a:t>
            </a:r>
          </a:p>
        </p:txBody>
      </p:sp>
      <p:sp>
        <p:nvSpPr>
          <p:cNvPr id="9" name="Rounded Rectangle 8"/>
          <p:cNvSpPr/>
          <p:nvPr/>
        </p:nvSpPr>
        <p:spPr>
          <a:xfrm>
            <a:off x="6217920" y="1463040"/>
            <a:ext cx="52120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200055"/>
          </a:xfrm>
          <a:prstGeom prst="rect">
            <a:avLst/>
          </a:prstGeom>
          <a:noFill/>
        </p:spPr>
        <p:txBody>
          <a:bodyPr wrap="square" lIns="0" tIns="0" rIns="0" bIns="0" anchor="t">
            <a:spAutoFit/>
          </a:bodyPr>
          <a:lstStyle/>
          <a:p>
            <a:pPr>
              <a:defRPr sz="1300" b="1">
                <a:solidFill>
                  <a:srgbClr val="10B981"/>
                </a:solidFill>
                <a:latin typeface="Arial"/>
              </a:defRPr>
            </a:pPr>
            <a:r>
              <a:rPr lang="en-US" dirty="0"/>
              <a:t>   </a:t>
            </a:r>
            <a:r>
              <a:t>User Experience &amp; Presentation Goals</a:t>
            </a:r>
          </a:p>
        </p:txBody>
      </p:sp>
      <p:sp>
        <p:nvSpPr>
          <p:cNvPr id="11" name="TextBox 10"/>
          <p:cNvSpPr txBox="1"/>
          <p:nvPr/>
        </p:nvSpPr>
        <p:spPr>
          <a:xfrm>
            <a:off x="6400800" y="2011680"/>
            <a:ext cx="484632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Goal 5: Simple Visual Dashboard: </a:t>
            </a:r>
            <a:r>
              <a:rPr b="0">
                <a:solidFill>
                  <a:srgbClr val="CBD5E1"/>
                </a:solidFill>
              </a:rPr>
              <a:t>Build a beautiful Dark Mode interface that looks like a real-world Security Operations Center (SOC).</a:t>
            </a:r>
          </a:p>
          <a:p>
            <a:pPr>
              <a:spcAft>
                <a:spcPts val="1000"/>
              </a:spcAft>
              <a:defRPr sz="1200">
                <a:latin typeface="Arial"/>
              </a:defRPr>
            </a:pPr>
            <a:r>
              <a:rPr b="1">
                <a:solidFill>
                  <a:srgbClr val="38BDF8"/>
                </a:solidFill>
              </a:rPr>
              <a:t>• </a:t>
            </a:r>
            <a:r>
              <a:rPr b="1">
                <a:solidFill>
                  <a:srgbClr val="F8FAFC"/>
                </a:solidFill>
              </a:rPr>
              <a:t>Goal 6: Interactive Network Graph: </a:t>
            </a:r>
            <a:r>
              <a:rPr b="0">
                <a:solidFill>
                  <a:srgbClr val="CBD5E1"/>
                </a:solidFill>
              </a:rPr>
              <a:t>Show devices as bubbles and connections as lines, so anyone can see the attack visually.</a:t>
            </a:r>
          </a:p>
          <a:p>
            <a:pPr>
              <a:spcAft>
                <a:spcPts val="1000"/>
              </a:spcAft>
              <a:defRPr sz="1200">
                <a:latin typeface="Arial"/>
              </a:defRPr>
            </a:pPr>
            <a:r>
              <a:rPr b="1">
                <a:solidFill>
                  <a:srgbClr val="38BDF8"/>
                </a:solidFill>
              </a:rPr>
              <a:t>• </a:t>
            </a:r>
            <a:r>
              <a:rPr b="1">
                <a:solidFill>
                  <a:srgbClr val="F8FAFC"/>
                </a:solidFill>
              </a:rPr>
              <a:t>Goal 7: Save Cases &amp; Findings: </a:t>
            </a:r>
            <a:r>
              <a:rPr b="0">
                <a:solidFill>
                  <a:srgbClr val="CBD5E1"/>
                </a:solidFill>
              </a:rPr>
              <a:t>Let the security officer create cases, bookmark important evidence, and write down notes.</a:t>
            </a:r>
          </a:p>
          <a:p>
            <a:pPr>
              <a:spcAft>
                <a:spcPts val="1000"/>
              </a:spcAft>
              <a:defRPr sz="1200">
                <a:latin typeface="Arial"/>
              </a:defRPr>
            </a:pPr>
            <a:r>
              <a:rPr b="1">
                <a:solidFill>
                  <a:srgbClr val="38BDF8"/>
                </a:solidFill>
              </a:rPr>
              <a:t>• </a:t>
            </a:r>
            <a:r>
              <a:rPr b="1">
                <a:solidFill>
                  <a:srgbClr val="F8FAFC"/>
                </a:solidFill>
              </a:rPr>
              <a:t>Goal 8: Create Professional Reports: </a:t>
            </a:r>
            <a:r>
              <a:rPr b="0">
                <a:solidFill>
                  <a:srgbClr val="CBD5E1"/>
                </a:solidFill>
              </a:rPr>
              <a:t>Export clean PDF reports with 1 click so they can be submitted to college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How the System Works: 4 Simple Steps</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24688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2103120" cy="320040"/>
          </a:xfrm>
          <a:prstGeom prst="rect">
            <a:avLst/>
          </a:prstGeom>
          <a:noFill/>
        </p:spPr>
        <p:txBody>
          <a:bodyPr wrap="square" lIns="0" tIns="0" rIns="0" bIns="0">
            <a:spAutoFit/>
          </a:bodyPr>
          <a:lstStyle/>
          <a:p>
            <a:pPr>
              <a:defRPr sz="1300" b="1">
                <a:solidFill>
                  <a:srgbClr val="38BDF8"/>
                </a:solidFill>
                <a:latin typeface="Arial"/>
              </a:defRPr>
            </a:pPr>
            <a:r>
              <a:t>Step 1: Upload</a:t>
            </a:r>
          </a:p>
        </p:txBody>
      </p:sp>
      <p:sp>
        <p:nvSpPr>
          <p:cNvPr id="8" name="TextBox 7"/>
          <p:cNvSpPr txBox="1"/>
          <p:nvPr/>
        </p:nvSpPr>
        <p:spPr>
          <a:xfrm>
            <a:off x="868680" y="1920240"/>
            <a:ext cx="2194560" cy="320040"/>
          </a:xfrm>
          <a:prstGeom prst="rect">
            <a:avLst/>
          </a:prstGeom>
          <a:noFill/>
        </p:spPr>
        <p:txBody>
          <a:bodyPr wrap="none" lIns="0" tIns="0">
            <a:spAutoFit/>
          </a:bodyPr>
          <a:lstStyle/>
          <a:p>
            <a:pPr>
              <a:defRPr sz="900" b="1">
                <a:solidFill>
                  <a:srgbClr val="94A3B8"/>
                </a:solidFill>
                <a:latin typeface="Arial"/>
              </a:defRPr>
            </a:pPr>
            <a:r>
              <a:t>INGEST LOG FILES</a:t>
            </a:r>
          </a:p>
        </p:txBody>
      </p:sp>
      <p:sp>
        <p:nvSpPr>
          <p:cNvPr id="9" name="TextBox 8"/>
          <p:cNvSpPr txBox="1"/>
          <p:nvPr/>
        </p:nvSpPr>
        <p:spPr>
          <a:xfrm>
            <a:off x="868680" y="2331720"/>
            <a:ext cx="2194560" cy="38404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User Uploads Logs: </a:t>
            </a:r>
            <a:r>
              <a:rPr b="0">
                <a:solidFill>
                  <a:srgbClr val="CBD5E1"/>
                </a:solidFill>
              </a:rPr>
              <a:t>Upload CSV, JSON, or Zeek log files from Wi-Fi routers and firewalls.</a:t>
            </a:r>
          </a:p>
          <a:p>
            <a:pPr>
              <a:spcAft>
                <a:spcPts val="1000"/>
              </a:spcAft>
              <a:defRPr sz="1200">
                <a:latin typeface="Arial"/>
              </a:defRPr>
            </a:pPr>
            <a:r>
              <a:rPr b="1">
                <a:solidFill>
                  <a:srgbClr val="38BDF8"/>
                </a:solidFill>
              </a:rPr>
              <a:t>• </a:t>
            </a:r>
            <a:r>
              <a:rPr b="1">
                <a:solidFill>
                  <a:srgbClr val="F8FAFC"/>
                </a:solidFill>
              </a:rPr>
              <a:t>Automatic Check: </a:t>
            </a:r>
            <a:r>
              <a:rPr b="0">
                <a:solidFill>
                  <a:srgbClr val="CBD5E1"/>
                </a:solidFill>
              </a:rPr>
              <a:t>The system checks file format and columns automatically.</a:t>
            </a:r>
          </a:p>
        </p:txBody>
      </p:sp>
      <p:sp>
        <p:nvSpPr>
          <p:cNvPr id="10" name="Rounded Rectangle 9"/>
          <p:cNvSpPr/>
          <p:nvPr/>
        </p:nvSpPr>
        <p:spPr>
          <a:xfrm>
            <a:off x="3474720" y="1463040"/>
            <a:ext cx="24688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627632"/>
            <a:ext cx="2103120" cy="320040"/>
          </a:xfrm>
          <a:prstGeom prst="rect">
            <a:avLst/>
          </a:prstGeom>
          <a:noFill/>
        </p:spPr>
        <p:txBody>
          <a:bodyPr wrap="square" lIns="0" tIns="0" rIns="0" bIns="0">
            <a:spAutoFit/>
          </a:bodyPr>
          <a:lstStyle/>
          <a:p>
            <a:pPr>
              <a:defRPr sz="1300" b="1">
                <a:solidFill>
                  <a:srgbClr val="1E3A8A"/>
                </a:solidFill>
                <a:latin typeface="Arial"/>
              </a:defRPr>
            </a:pPr>
            <a:r>
              <a:t>Step 2: Clean</a:t>
            </a:r>
          </a:p>
        </p:txBody>
      </p:sp>
      <p:sp>
        <p:nvSpPr>
          <p:cNvPr id="12" name="TextBox 11"/>
          <p:cNvSpPr txBox="1"/>
          <p:nvPr/>
        </p:nvSpPr>
        <p:spPr>
          <a:xfrm>
            <a:off x="3611880" y="1920240"/>
            <a:ext cx="2194560" cy="320040"/>
          </a:xfrm>
          <a:prstGeom prst="rect">
            <a:avLst/>
          </a:prstGeom>
          <a:noFill/>
        </p:spPr>
        <p:txBody>
          <a:bodyPr wrap="none" lIns="0" tIns="0">
            <a:spAutoFit/>
          </a:bodyPr>
          <a:lstStyle/>
          <a:p>
            <a:pPr>
              <a:defRPr sz="900" b="1">
                <a:solidFill>
                  <a:srgbClr val="94A3B8"/>
                </a:solidFill>
                <a:latin typeface="Arial"/>
              </a:defRPr>
            </a:pPr>
            <a:r>
              <a:t>NORMALIZE THE DATA</a:t>
            </a:r>
          </a:p>
        </p:txBody>
      </p:sp>
      <p:sp>
        <p:nvSpPr>
          <p:cNvPr id="13" name="TextBox 12"/>
          <p:cNvSpPr txBox="1"/>
          <p:nvPr/>
        </p:nvSpPr>
        <p:spPr>
          <a:xfrm>
            <a:off x="3611880" y="2331720"/>
            <a:ext cx="2194560" cy="38404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Standardize Clocks: </a:t>
            </a:r>
            <a:r>
              <a:rPr b="0">
                <a:solidFill>
                  <a:srgbClr val="CBD5E1"/>
                </a:solidFill>
              </a:rPr>
              <a:t>Converts all dates and times into one matching time zone.</a:t>
            </a:r>
          </a:p>
          <a:p>
            <a:pPr>
              <a:spcAft>
                <a:spcPts val="1000"/>
              </a:spcAft>
              <a:defRPr sz="1200">
                <a:latin typeface="Arial"/>
              </a:defRPr>
            </a:pPr>
            <a:r>
              <a:rPr b="1">
                <a:solidFill>
                  <a:srgbClr val="38BDF8"/>
                </a:solidFill>
              </a:rPr>
              <a:t>• </a:t>
            </a:r>
            <a:r>
              <a:rPr b="1">
                <a:solidFill>
                  <a:srgbClr val="F8FAFC"/>
                </a:solidFill>
              </a:rPr>
              <a:t>Clean IP &amp; Ports: </a:t>
            </a:r>
            <a:r>
              <a:rPr b="0">
                <a:solidFill>
                  <a:srgbClr val="CBD5E1"/>
                </a:solidFill>
              </a:rPr>
              <a:t>Verifies IP numbers and labels protocols (like HTTP, DNS, SSH).</a:t>
            </a:r>
          </a:p>
        </p:txBody>
      </p:sp>
      <p:sp>
        <p:nvSpPr>
          <p:cNvPr id="14" name="Rounded Rectangle 13"/>
          <p:cNvSpPr/>
          <p:nvPr/>
        </p:nvSpPr>
        <p:spPr>
          <a:xfrm>
            <a:off x="6217920" y="1463040"/>
            <a:ext cx="24688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627632"/>
            <a:ext cx="2103120" cy="320040"/>
          </a:xfrm>
          <a:prstGeom prst="rect">
            <a:avLst/>
          </a:prstGeom>
          <a:noFill/>
        </p:spPr>
        <p:txBody>
          <a:bodyPr wrap="square" lIns="0" tIns="0" rIns="0" bIns="0">
            <a:spAutoFit/>
          </a:bodyPr>
          <a:lstStyle/>
          <a:p>
            <a:pPr>
              <a:defRPr sz="1300" b="1">
                <a:solidFill>
                  <a:srgbClr val="F59E0B"/>
                </a:solidFill>
                <a:latin typeface="Arial"/>
              </a:defRPr>
            </a:pPr>
            <a:r>
              <a:t>Step 3: Detect</a:t>
            </a:r>
          </a:p>
        </p:txBody>
      </p:sp>
      <p:sp>
        <p:nvSpPr>
          <p:cNvPr id="16" name="TextBox 15"/>
          <p:cNvSpPr txBox="1"/>
          <p:nvPr/>
        </p:nvSpPr>
        <p:spPr>
          <a:xfrm>
            <a:off x="6355080" y="1920240"/>
            <a:ext cx="2194560" cy="320040"/>
          </a:xfrm>
          <a:prstGeom prst="rect">
            <a:avLst/>
          </a:prstGeom>
          <a:noFill/>
        </p:spPr>
        <p:txBody>
          <a:bodyPr wrap="none" lIns="0" tIns="0">
            <a:spAutoFit/>
          </a:bodyPr>
          <a:lstStyle/>
          <a:p>
            <a:pPr>
              <a:defRPr sz="900" b="1">
                <a:solidFill>
                  <a:srgbClr val="94A3B8"/>
                </a:solidFill>
                <a:latin typeface="Arial"/>
              </a:defRPr>
            </a:pPr>
            <a:r>
              <a:t>RUN SECURITY RULES</a:t>
            </a:r>
          </a:p>
        </p:txBody>
      </p:sp>
      <p:sp>
        <p:nvSpPr>
          <p:cNvPr id="17" name="TextBox 16"/>
          <p:cNvSpPr txBox="1"/>
          <p:nvPr/>
        </p:nvSpPr>
        <p:spPr>
          <a:xfrm>
            <a:off x="6355080" y="2331720"/>
            <a:ext cx="2194560" cy="38404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Rule Engine: </a:t>
            </a:r>
            <a:r>
              <a:rPr b="0">
                <a:solidFill>
                  <a:srgbClr val="CBD5E1"/>
                </a:solidFill>
              </a:rPr>
              <a:t>Checks for port scans, backdoor ports, and rapid data uploads.</a:t>
            </a:r>
          </a:p>
          <a:p>
            <a:pPr>
              <a:spcAft>
                <a:spcPts val="1000"/>
              </a:spcAft>
              <a:defRPr sz="1200">
                <a:latin typeface="Arial"/>
              </a:defRPr>
            </a:pPr>
            <a:r>
              <a:rPr b="1">
                <a:solidFill>
                  <a:srgbClr val="38BDF8"/>
                </a:solidFill>
              </a:rPr>
              <a:t>• </a:t>
            </a:r>
            <a:r>
              <a:rPr b="1">
                <a:solidFill>
                  <a:srgbClr val="F8FAFC"/>
                </a:solidFill>
              </a:rPr>
              <a:t>Connect the Dots: </a:t>
            </a:r>
            <a:r>
              <a:rPr b="0">
                <a:solidFill>
                  <a:srgbClr val="CBD5E1"/>
                </a:solidFill>
              </a:rPr>
              <a:t>Links which computer contacted which server and when.</a:t>
            </a:r>
          </a:p>
        </p:txBody>
      </p:sp>
      <p:sp>
        <p:nvSpPr>
          <p:cNvPr id="18" name="Rounded Rectangle 17"/>
          <p:cNvSpPr/>
          <p:nvPr/>
        </p:nvSpPr>
        <p:spPr>
          <a:xfrm>
            <a:off x="8961120" y="1463040"/>
            <a:ext cx="24688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0" y="1627632"/>
            <a:ext cx="2103120" cy="320040"/>
          </a:xfrm>
          <a:prstGeom prst="rect">
            <a:avLst/>
          </a:prstGeom>
          <a:noFill/>
        </p:spPr>
        <p:txBody>
          <a:bodyPr wrap="square" lIns="0" tIns="0" rIns="0" bIns="0">
            <a:spAutoFit/>
          </a:bodyPr>
          <a:lstStyle/>
          <a:p>
            <a:pPr>
              <a:defRPr sz="1300" b="1">
                <a:solidFill>
                  <a:srgbClr val="10B981"/>
                </a:solidFill>
                <a:latin typeface="Arial"/>
              </a:defRPr>
            </a:pPr>
            <a:r>
              <a:t>Step 4: Show</a:t>
            </a:r>
          </a:p>
        </p:txBody>
      </p:sp>
      <p:sp>
        <p:nvSpPr>
          <p:cNvPr id="20" name="TextBox 19"/>
          <p:cNvSpPr txBox="1"/>
          <p:nvPr/>
        </p:nvSpPr>
        <p:spPr>
          <a:xfrm>
            <a:off x="9098280" y="1920240"/>
            <a:ext cx="2194560" cy="320040"/>
          </a:xfrm>
          <a:prstGeom prst="rect">
            <a:avLst/>
          </a:prstGeom>
          <a:noFill/>
        </p:spPr>
        <p:txBody>
          <a:bodyPr wrap="none" lIns="0" tIns="0">
            <a:spAutoFit/>
          </a:bodyPr>
          <a:lstStyle/>
          <a:p>
            <a:pPr>
              <a:defRPr sz="900" b="1">
                <a:solidFill>
                  <a:srgbClr val="94A3B8"/>
                </a:solidFill>
                <a:latin typeface="Arial"/>
              </a:defRPr>
            </a:pPr>
            <a:r>
              <a:t>VISUALS &amp; REPORTS</a:t>
            </a:r>
          </a:p>
        </p:txBody>
      </p:sp>
      <p:sp>
        <p:nvSpPr>
          <p:cNvPr id="21" name="TextBox 20"/>
          <p:cNvSpPr txBox="1"/>
          <p:nvPr/>
        </p:nvSpPr>
        <p:spPr>
          <a:xfrm>
            <a:off x="9098280" y="2331720"/>
            <a:ext cx="2194560" cy="38404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Interactive Map: </a:t>
            </a:r>
            <a:r>
              <a:rPr b="0">
                <a:solidFill>
                  <a:srgbClr val="CBD5E1"/>
                </a:solidFill>
              </a:rPr>
              <a:t>Draws a live network graph of all computers.</a:t>
            </a:r>
          </a:p>
          <a:p>
            <a:pPr>
              <a:spcAft>
                <a:spcPts val="1000"/>
              </a:spcAft>
              <a:defRPr sz="1200">
                <a:latin typeface="Arial"/>
              </a:defRPr>
            </a:pPr>
            <a:r>
              <a:rPr b="1">
                <a:solidFill>
                  <a:srgbClr val="38BDF8"/>
                </a:solidFill>
              </a:rPr>
              <a:t>• </a:t>
            </a:r>
            <a:r>
              <a:rPr b="1">
                <a:solidFill>
                  <a:srgbClr val="F8FAFC"/>
                </a:solidFill>
              </a:rPr>
              <a:t>1-Click PDF: </a:t>
            </a:r>
            <a:r>
              <a:rPr b="0">
                <a:solidFill>
                  <a:srgbClr val="CBD5E1"/>
                </a:solidFill>
              </a:rPr>
              <a:t>Generates a clean PDF incident report.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Technologies Used &amp; Why We Chose Them</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320040"/>
          </a:xfrm>
          <a:prstGeom prst="rect">
            <a:avLst/>
          </a:prstGeom>
          <a:noFill/>
        </p:spPr>
        <p:txBody>
          <a:bodyPr wrap="square" lIns="0" tIns="0" rIns="0" bIns="0">
            <a:spAutoFit/>
          </a:bodyPr>
          <a:lstStyle/>
          <a:p>
            <a:pPr>
              <a:defRPr sz="1300" b="1">
                <a:solidFill>
                  <a:srgbClr val="38BDF8"/>
                </a:solidFill>
                <a:latin typeface="Arial"/>
              </a:defRPr>
            </a:pPr>
            <a:r>
              <a:t>Python 3 (Backend)</a:t>
            </a:r>
          </a:p>
        </p:txBody>
      </p:sp>
      <p:sp>
        <p:nvSpPr>
          <p:cNvPr id="8" name="TextBox 7"/>
          <p:cNvSpPr txBox="1"/>
          <p:nvPr/>
        </p:nvSpPr>
        <p:spPr>
          <a:xfrm>
            <a:off x="914400" y="1965960"/>
            <a:ext cx="475488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Why Python? </a:t>
            </a:r>
            <a:r>
              <a:rPr b="0">
                <a:solidFill>
                  <a:srgbClr val="CBD5E1"/>
                </a:solidFill>
              </a:rPr>
              <a:t>Python is the #1 programming language for cybersecurity and data handling.</a:t>
            </a:r>
          </a:p>
          <a:p>
            <a:pPr>
              <a:spcAft>
                <a:spcPts val="1000"/>
              </a:spcAft>
              <a:defRPr sz="1200">
                <a:latin typeface="Arial"/>
              </a:defRPr>
            </a:pPr>
            <a:r>
              <a:rPr b="1">
                <a:solidFill>
                  <a:srgbClr val="38BDF8"/>
                </a:solidFill>
              </a:rPr>
              <a:t>• </a:t>
            </a:r>
            <a:r>
              <a:rPr b="1">
                <a:solidFill>
                  <a:srgbClr val="F8FAFC"/>
                </a:solidFill>
              </a:rPr>
              <a:t>Flask Web Framework: </a:t>
            </a:r>
            <a:r>
              <a:rPr b="0">
                <a:solidFill>
                  <a:srgbClr val="CBD5E1"/>
                </a:solidFill>
              </a:rPr>
              <a:t>Fast, lightweight web framework that connects the backend logic to the web pages.</a:t>
            </a:r>
          </a:p>
          <a:p>
            <a:pPr>
              <a:spcAft>
                <a:spcPts val="1000"/>
              </a:spcAft>
              <a:defRPr sz="1200">
                <a:latin typeface="Arial"/>
              </a:defRPr>
            </a:pPr>
            <a:r>
              <a:rPr b="1">
                <a:solidFill>
                  <a:srgbClr val="38BDF8"/>
                </a:solidFill>
              </a:rPr>
              <a:t>• </a:t>
            </a:r>
            <a:r>
              <a:rPr b="1">
                <a:solidFill>
                  <a:srgbClr val="F8FAFC"/>
                </a:solidFill>
              </a:rPr>
              <a:t>Pandas: </a:t>
            </a:r>
            <a:r>
              <a:rPr b="0">
                <a:solidFill>
                  <a:srgbClr val="CBD5E1"/>
                </a:solidFill>
              </a:rPr>
              <a:t>Used for quick tabular data filtering and CSV exports.</a:t>
            </a:r>
          </a:p>
        </p:txBody>
      </p:sp>
      <p:sp>
        <p:nvSpPr>
          <p:cNvPr id="9" name="Rounded Rectangle 8"/>
          <p:cNvSpPr/>
          <p:nvPr/>
        </p:nvSpPr>
        <p:spPr>
          <a:xfrm>
            <a:off x="731520" y="3977639"/>
            <a:ext cx="512064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142231"/>
            <a:ext cx="4754880" cy="320040"/>
          </a:xfrm>
          <a:prstGeom prst="rect">
            <a:avLst/>
          </a:prstGeom>
          <a:noFill/>
        </p:spPr>
        <p:txBody>
          <a:bodyPr wrap="square" lIns="0" tIns="0" rIns="0" bIns="0">
            <a:spAutoFit/>
          </a:bodyPr>
          <a:lstStyle/>
          <a:p>
            <a:pPr>
              <a:defRPr sz="1300" b="1">
                <a:solidFill>
                  <a:srgbClr val="10B981"/>
                </a:solidFill>
                <a:latin typeface="Arial"/>
              </a:defRPr>
            </a:pPr>
            <a:r>
              <a:t>SQLite (Database)</a:t>
            </a:r>
          </a:p>
        </p:txBody>
      </p:sp>
      <p:sp>
        <p:nvSpPr>
          <p:cNvPr id="11" name="TextBox 10"/>
          <p:cNvSpPr txBox="1"/>
          <p:nvPr/>
        </p:nvSpPr>
        <p:spPr>
          <a:xfrm>
            <a:off x="914400" y="4451804"/>
            <a:ext cx="4754880" cy="1364476"/>
          </a:xfrm>
          <a:prstGeom prst="rect">
            <a:avLst/>
          </a:prstGeom>
          <a:noFill/>
        </p:spPr>
        <p:txBody>
          <a:bodyPr wrap="square" lIns="0" tIns="0" rIns="0" bIns="0" anchor="t">
            <a:spAutoFit/>
          </a:bodyPr>
          <a:lstStyle/>
          <a:p>
            <a:pPr>
              <a:spcAft>
                <a:spcPts val="1000"/>
              </a:spcAft>
              <a:defRPr sz="1200">
                <a:latin typeface="Arial"/>
              </a:defRPr>
            </a:pPr>
            <a:r>
              <a:rPr b="1">
                <a:solidFill>
                  <a:srgbClr val="38BDF8"/>
                </a:solidFill>
              </a:rPr>
              <a:t>• </a:t>
            </a:r>
            <a:r>
              <a:rPr b="1">
                <a:solidFill>
                  <a:srgbClr val="F8FAFC"/>
                </a:solidFill>
              </a:rPr>
              <a:t>Why SQLite? </a:t>
            </a:r>
            <a:r>
              <a:rPr b="0">
                <a:solidFill>
                  <a:srgbClr val="CBD5E1"/>
                </a:solidFill>
              </a:rPr>
              <a:t>Requires zero installation or setup. The database is a single file inside the project.</a:t>
            </a:r>
            <a:endParaRPr lang="en-US">
              <a:cs typeface="Arial"/>
            </a:endParaRPr>
          </a:p>
          <a:p>
            <a:pPr>
              <a:spcAft>
                <a:spcPts val="1000"/>
              </a:spcAft>
              <a:defRPr sz="1200">
                <a:latin typeface="Arial"/>
              </a:defRPr>
            </a:pPr>
            <a:r>
              <a:rPr b="1">
                <a:solidFill>
                  <a:srgbClr val="38BDF8"/>
                </a:solidFill>
              </a:rPr>
              <a:t>• </a:t>
            </a:r>
            <a:r>
              <a:rPr b="1">
                <a:solidFill>
                  <a:srgbClr val="F8FAFC"/>
                </a:solidFill>
              </a:rPr>
              <a:t>Fast Query Speed: </a:t>
            </a:r>
            <a:r>
              <a:rPr b="0">
                <a:solidFill>
                  <a:srgbClr val="CBD5E1"/>
                </a:solidFill>
              </a:rPr>
              <a:t>We added special indexes on timestamps and IP addresses so searches take less than 0.1 second.</a:t>
            </a:r>
          </a:p>
          <a:p>
            <a:pPr>
              <a:spcAft>
                <a:spcPts val="1000"/>
              </a:spcAft>
              <a:defRPr sz="1200">
                <a:latin typeface="Arial"/>
              </a:defRPr>
            </a:pPr>
            <a:r>
              <a:rPr b="1">
                <a:solidFill>
                  <a:srgbClr val="38BDF8"/>
                </a:solidFill>
              </a:rPr>
              <a:t>• </a:t>
            </a:r>
            <a:r>
              <a:rPr b="1">
                <a:solidFill>
                  <a:srgbClr val="F8FAFC"/>
                </a:solidFill>
              </a:rPr>
              <a:t>Private &amp; Secure: </a:t>
            </a:r>
            <a:r>
              <a:rPr b="0">
                <a:solidFill>
                  <a:srgbClr val="CBD5E1"/>
                </a:solidFill>
              </a:rPr>
              <a:t>All data stays on the local computer. No cloud service is required.</a:t>
            </a:r>
          </a:p>
        </p:txBody>
      </p:sp>
      <p:sp>
        <p:nvSpPr>
          <p:cNvPr id="12" name="Rounded Rectangle 11"/>
          <p:cNvSpPr/>
          <p:nvPr/>
        </p:nvSpPr>
        <p:spPr>
          <a:xfrm>
            <a:off x="6217920" y="1463040"/>
            <a:ext cx="521208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627632"/>
            <a:ext cx="4846320" cy="320040"/>
          </a:xfrm>
          <a:prstGeom prst="rect">
            <a:avLst/>
          </a:prstGeom>
          <a:noFill/>
        </p:spPr>
        <p:txBody>
          <a:bodyPr wrap="square" lIns="0" tIns="0" rIns="0" bIns="0">
            <a:spAutoFit/>
          </a:bodyPr>
          <a:lstStyle/>
          <a:p>
            <a:pPr>
              <a:defRPr sz="1300" b="1">
                <a:solidFill>
                  <a:srgbClr val="F59E0B"/>
                </a:solidFill>
                <a:latin typeface="Arial"/>
              </a:defRPr>
            </a:pPr>
            <a:r>
              <a:t>Bootstrap 5 &amp; Chart.js (UI)</a:t>
            </a:r>
          </a:p>
        </p:txBody>
      </p:sp>
      <p:sp>
        <p:nvSpPr>
          <p:cNvPr id="14" name="TextBox 13"/>
          <p:cNvSpPr txBox="1"/>
          <p:nvPr/>
        </p:nvSpPr>
        <p:spPr>
          <a:xfrm>
            <a:off x="6400800" y="1965960"/>
            <a:ext cx="484632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Bootstrap 5 Dark Mode: </a:t>
            </a:r>
            <a:r>
              <a:rPr b="0">
                <a:solidFill>
                  <a:srgbClr val="CBD5E1"/>
                </a:solidFill>
              </a:rPr>
              <a:t>Gives a sleek, professional Security Operations Center (SOC) look.</a:t>
            </a:r>
          </a:p>
          <a:p>
            <a:pPr>
              <a:spcAft>
                <a:spcPts val="1000"/>
              </a:spcAft>
              <a:defRPr sz="1200">
                <a:latin typeface="Arial"/>
              </a:defRPr>
            </a:pPr>
            <a:r>
              <a:rPr b="1">
                <a:solidFill>
                  <a:srgbClr val="38BDF8"/>
                </a:solidFill>
              </a:rPr>
              <a:t>• </a:t>
            </a:r>
            <a:r>
              <a:rPr b="1">
                <a:solidFill>
                  <a:srgbClr val="F8FAFC"/>
                </a:solidFill>
              </a:rPr>
              <a:t>Chart.js: </a:t>
            </a:r>
            <a:r>
              <a:rPr b="0">
                <a:solidFill>
                  <a:srgbClr val="CBD5E1"/>
                </a:solidFill>
              </a:rPr>
              <a:t>Draws animated bar charts and donut charts that show peak traffic hours.</a:t>
            </a:r>
          </a:p>
          <a:p>
            <a:pPr>
              <a:spcAft>
                <a:spcPts val="1000"/>
              </a:spcAft>
              <a:defRPr sz="1200">
                <a:latin typeface="Arial"/>
              </a:defRPr>
            </a:pPr>
            <a:r>
              <a:rPr b="1">
                <a:solidFill>
                  <a:srgbClr val="38BDF8"/>
                </a:solidFill>
              </a:rPr>
              <a:t>• </a:t>
            </a:r>
            <a:r>
              <a:rPr b="1">
                <a:solidFill>
                  <a:srgbClr val="F8FAFC"/>
                </a:solidFill>
              </a:rPr>
              <a:t>Responsive Design: </a:t>
            </a:r>
            <a:r>
              <a:rPr b="0">
                <a:solidFill>
                  <a:srgbClr val="CBD5E1"/>
                </a:solidFill>
              </a:rPr>
              <a:t>Works smoothly on laptops, tablets, and external monitors.</a:t>
            </a:r>
          </a:p>
        </p:txBody>
      </p:sp>
      <p:sp>
        <p:nvSpPr>
          <p:cNvPr id="15" name="Rounded Rectangle 14"/>
          <p:cNvSpPr/>
          <p:nvPr/>
        </p:nvSpPr>
        <p:spPr>
          <a:xfrm>
            <a:off x="6217920" y="3977639"/>
            <a:ext cx="521208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4142231"/>
            <a:ext cx="4846320" cy="320040"/>
          </a:xfrm>
          <a:prstGeom prst="rect">
            <a:avLst/>
          </a:prstGeom>
          <a:noFill/>
        </p:spPr>
        <p:txBody>
          <a:bodyPr wrap="square" lIns="0" tIns="0" rIns="0" bIns="0">
            <a:spAutoFit/>
          </a:bodyPr>
          <a:lstStyle/>
          <a:p>
            <a:pPr>
              <a:defRPr sz="1300" b="1">
                <a:solidFill>
                  <a:srgbClr val="38BDF8"/>
                </a:solidFill>
                <a:latin typeface="Arial"/>
              </a:defRPr>
            </a:pPr>
            <a:r>
              <a:t>Cytoscape.js &amp; ReportLab</a:t>
            </a:r>
          </a:p>
        </p:txBody>
      </p:sp>
      <p:sp>
        <p:nvSpPr>
          <p:cNvPr id="17" name="TextBox 16"/>
          <p:cNvSpPr txBox="1"/>
          <p:nvPr/>
        </p:nvSpPr>
        <p:spPr>
          <a:xfrm>
            <a:off x="6400800" y="4480559"/>
            <a:ext cx="484632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Cytoscape.js (Network Graph): </a:t>
            </a:r>
            <a:r>
              <a:rPr b="0">
                <a:solidFill>
                  <a:srgbClr val="CBD5E1"/>
                </a:solidFill>
              </a:rPr>
              <a:t>A powerful library that draws circles for computers and lines for connections.</a:t>
            </a:r>
          </a:p>
          <a:p>
            <a:pPr>
              <a:spcAft>
                <a:spcPts val="1000"/>
              </a:spcAft>
              <a:defRPr sz="1200">
                <a:latin typeface="Arial"/>
              </a:defRPr>
            </a:pPr>
            <a:r>
              <a:rPr b="1">
                <a:solidFill>
                  <a:srgbClr val="38BDF8"/>
                </a:solidFill>
              </a:rPr>
              <a:t>• </a:t>
            </a:r>
            <a:r>
              <a:rPr b="1">
                <a:solidFill>
                  <a:srgbClr val="F8FAFC"/>
                </a:solidFill>
              </a:rPr>
              <a:t>ReportLab (PDF Generator): </a:t>
            </a:r>
            <a:r>
              <a:rPr b="0">
                <a:solidFill>
                  <a:srgbClr val="CBD5E1"/>
                </a:solidFill>
              </a:rPr>
              <a:t>Builds clean, printable PDF reports with tables and headers directly from Python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Step 1: Reading &amp; Cleaning Messy Logs</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200055"/>
          </a:xfrm>
          <a:prstGeom prst="rect">
            <a:avLst/>
          </a:prstGeom>
          <a:noFill/>
        </p:spPr>
        <p:txBody>
          <a:bodyPr wrap="square" lIns="0" tIns="0" rIns="0" bIns="0" anchor="t">
            <a:spAutoFit/>
          </a:bodyPr>
          <a:lstStyle/>
          <a:p>
            <a:pPr>
              <a:defRPr sz="1300" b="1">
                <a:solidFill>
                  <a:srgbClr val="38BDF8"/>
                </a:solidFill>
                <a:latin typeface="Arial"/>
              </a:defRPr>
            </a:pPr>
            <a:r>
              <a:rPr lang="en-US"/>
              <a:t>  </a:t>
            </a:r>
            <a:r>
              <a:t>Handling Different Log Formats</a:t>
            </a:r>
          </a:p>
        </p:txBody>
      </p:sp>
      <p:sp>
        <p:nvSpPr>
          <p:cNvPr id="8" name="TextBox 7"/>
          <p:cNvSpPr txBox="1"/>
          <p:nvPr/>
        </p:nvSpPr>
        <p:spPr>
          <a:xfrm>
            <a:off x="914400" y="2011680"/>
            <a:ext cx="475488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Accepts Many File Types: </a:t>
            </a:r>
            <a:r>
              <a:rPr b="0">
                <a:solidFill>
                  <a:srgbClr val="CBD5E1"/>
                </a:solidFill>
              </a:rPr>
              <a:t>Can read CSV files, TSV files, JSON records, and Zeek network security logs.</a:t>
            </a:r>
          </a:p>
          <a:p>
            <a:pPr>
              <a:spcAft>
                <a:spcPts val="1000"/>
              </a:spcAft>
              <a:defRPr sz="1200">
                <a:latin typeface="Arial"/>
              </a:defRPr>
            </a:pPr>
            <a:r>
              <a:rPr b="1">
                <a:solidFill>
                  <a:srgbClr val="38BDF8"/>
                </a:solidFill>
              </a:rPr>
              <a:t>• </a:t>
            </a:r>
            <a:r>
              <a:rPr b="1">
                <a:solidFill>
                  <a:srgbClr val="F8FAFC"/>
                </a:solidFill>
              </a:rPr>
              <a:t>Understands Different Column Names: </a:t>
            </a:r>
            <a:r>
              <a:rPr b="0">
                <a:solidFill>
                  <a:srgbClr val="CBD5E1"/>
                </a:solidFill>
              </a:rPr>
              <a:t>If one file calls an IP 'Source_IP' and another calls it 'src_addr' or 'id.orig_h', our system automatically recognizes that they mean the same thing!</a:t>
            </a:r>
          </a:p>
          <a:p>
            <a:pPr>
              <a:spcAft>
                <a:spcPts val="1000"/>
              </a:spcAft>
              <a:defRPr sz="1200">
                <a:latin typeface="Arial"/>
              </a:defRPr>
            </a:pPr>
            <a:r>
              <a:rPr b="1">
                <a:solidFill>
                  <a:srgbClr val="38BDF8"/>
                </a:solidFill>
              </a:rPr>
              <a:t>• </a:t>
            </a:r>
            <a:r>
              <a:rPr b="1">
                <a:solidFill>
                  <a:srgbClr val="F8FAFC"/>
                </a:solidFill>
              </a:rPr>
              <a:t>Safe with Missing Data: </a:t>
            </a:r>
            <a:r>
              <a:rPr b="0">
                <a:solidFill>
                  <a:srgbClr val="CBD5E1"/>
                </a:solidFill>
              </a:rPr>
              <a:t>If some fields like hostname or description are missing, the system keeps working smoothly without crashing.</a:t>
            </a:r>
          </a:p>
          <a:p>
            <a:pPr>
              <a:spcAft>
                <a:spcPts val="1000"/>
              </a:spcAft>
              <a:defRPr sz="1200">
                <a:latin typeface="Arial"/>
              </a:defRPr>
            </a:pPr>
            <a:r>
              <a:rPr b="1">
                <a:solidFill>
                  <a:srgbClr val="38BDF8"/>
                </a:solidFill>
              </a:rPr>
              <a:t>• </a:t>
            </a:r>
            <a:r>
              <a:rPr b="1">
                <a:solidFill>
                  <a:srgbClr val="F8FAFC"/>
                </a:solidFill>
              </a:rPr>
              <a:t>Keeps the Original Data: </a:t>
            </a:r>
            <a:r>
              <a:rPr b="0">
                <a:solidFill>
                  <a:srgbClr val="CBD5E1"/>
                </a:solidFill>
              </a:rPr>
              <a:t>Saves the raw original log line so security analysts can always double-check the original proof.</a:t>
            </a:r>
          </a:p>
        </p:txBody>
      </p:sp>
      <p:sp>
        <p:nvSpPr>
          <p:cNvPr id="9" name="Rounded Rectangle 8"/>
          <p:cNvSpPr/>
          <p:nvPr/>
        </p:nvSpPr>
        <p:spPr>
          <a:xfrm>
            <a:off x="6217920" y="1463040"/>
            <a:ext cx="52120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200055"/>
          </a:xfrm>
          <a:prstGeom prst="rect">
            <a:avLst/>
          </a:prstGeom>
          <a:noFill/>
        </p:spPr>
        <p:txBody>
          <a:bodyPr wrap="square" lIns="0" tIns="0" rIns="0" bIns="0" anchor="t">
            <a:spAutoFit/>
          </a:bodyPr>
          <a:lstStyle/>
          <a:p>
            <a:pPr>
              <a:defRPr sz="1300" b="1">
                <a:solidFill>
                  <a:srgbClr val="10B981"/>
                </a:solidFill>
                <a:latin typeface="Arial"/>
              </a:defRPr>
            </a:pPr>
            <a:r>
              <a:rPr lang="en-US" dirty="0"/>
              <a:t>     </a:t>
            </a:r>
            <a:r>
              <a:t>Fixing Dates &amp; IP Addresses</a:t>
            </a:r>
          </a:p>
        </p:txBody>
      </p:sp>
      <p:sp>
        <p:nvSpPr>
          <p:cNvPr id="11" name="TextBox 10"/>
          <p:cNvSpPr txBox="1"/>
          <p:nvPr/>
        </p:nvSpPr>
        <p:spPr>
          <a:xfrm>
            <a:off x="6400800" y="2011680"/>
            <a:ext cx="484632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Aligning the Clocks: </a:t>
            </a:r>
            <a:r>
              <a:rPr b="0">
                <a:solidFill>
                  <a:srgbClr val="CBD5E1"/>
                </a:solidFill>
              </a:rPr>
              <a:t>Converts all dates (Unix epoch numbers, AM/PM, standard dates) into one unified international time format.</a:t>
            </a:r>
          </a:p>
          <a:p>
            <a:pPr>
              <a:spcAft>
                <a:spcPts val="1000"/>
              </a:spcAft>
              <a:defRPr sz="1200">
                <a:latin typeface="Arial"/>
              </a:defRPr>
            </a:pPr>
            <a:r>
              <a:rPr b="1">
                <a:solidFill>
                  <a:srgbClr val="38BDF8"/>
                </a:solidFill>
              </a:rPr>
              <a:t>• </a:t>
            </a:r>
            <a:r>
              <a:rPr b="1">
                <a:solidFill>
                  <a:srgbClr val="F8FAFC"/>
                </a:solidFill>
              </a:rPr>
              <a:t>Checking IP Validity: </a:t>
            </a:r>
            <a:r>
              <a:rPr b="0">
                <a:solidFill>
                  <a:srgbClr val="CBD5E1"/>
                </a:solidFill>
              </a:rPr>
              <a:t>Ensures every IP address is a real IPv4 address (e.g. 10.0.1.45) and removes garbage entries.</a:t>
            </a:r>
          </a:p>
          <a:p>
            <a:pPr>
              <a:spcAft>
                <a:spcPts val="1000"/>
              </a:spcAft>
              <a:defRPr sz="1200">
                <a:latin typeface="Arial"/>
              </a:defRPr>
            </a:pPr>
            <a:r>
              <a:rPr b="1">
                <a:solidFill>
                  <a:srgbClr val="38BDF8"/>
                </a:solidFill>
              </a:rPr>
              <a:t>• </a:t>
            </a:r>
            <a:r>
              <a:rPr b="1">
                <a:solidFill>
                  <a:srgbClr val="F8FAFC"/>
                </a:solidFill>
              </a:rPr>
              <a:t>Labeling Event Types: </a:t>
            </a:r>
            <a:r>
              <a:rPr b="0">
                <a:solidFill>
                  <a:srgbClr val="CBD5E1"/>
                </a:solidFill>
              </a:rPr>
              <a:t>Automatically tags events as Web (HTTP/TLS), DNS, Email (SMTP), or DHCP based on ports and protocols.</a:t>
            </a:r>
          </a:p>
          <a:p>
            <a:pPr>
              <a:spcAft>
                <a:spcPts val="1000"/>
              </a:spcAft>
              <a:defRPr sz="1200">
                <a:latin typeface="Arial"/>
              </a:defRPr>
            </a:pPr>
            <a:r>
              <a:rPr b="1">
                <a:solidFill>
                  <a:srgbClr val="38BDF8"/>
                </a:solidFill>
              </a:rPr>
              <a:t>• </a:t>
            </a:r>
            <a:r>
              <a:rPr b="1">
                <a:solidFill>
                  <a:srgbClr val="F8FAFC"/>
                </a:solidFill>
              </a:rPr>
              <a:t>Color-Coded Severity: </a:t>
            </a:r>
            <a:r>
              <a:rPr b="0">
                <a:solidFill>
                  <a:srgbClr val="CBD5E1"/>
                </a:solidFill>
              </a:rPr>
              <a:t>Gives each event a clear severity badge: Informational, Low, Medium, High, or Critical.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Step 2: Connecting the Dots (Correlation Engine)</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320040"/>
          </a:xfrm>
          <a:prstGeom prst="rect">
            <a:avLst/>
          </a:prstGeom>
          <a:noFill/>
        </p:spPr>
        <p:txBody>
          <a:bodyPr wrap="square" lIns="0" tIns="0" rIns="0" bIns="0">
            <a:spAutoFit/>
          </a:bodyPr>
          <a:lstStyle/>
          <a:p>
            <a:pPr>
              <a:defRPr sz="1300" b="1">
                <a:solidFill>
                  <a:srgbClr val="38BDF8"/>
                </a:solidFill>
                <a:latin typeface="Arial"/>
              </a:defRPr>
            </a:pPr>
            <a:r>
              <a:t>1. Shared Computer Tracking</a:t>
            </a:r>
          </a:p>
        </p:txBody>
      </p:sp>
      <p:sp>
        <p:nvSpPr>
          <p:cNvPr id="8" name="TextBox 7"/>
          <p:cNvSpPr txBox="1"/>
          <p:nvPr/>
        </p:nvSpPr>
        <p:spPr>
          <a:xfrm>
            <a:off x="914400" y="1965960"/>
            <a:ext cx="475488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Tracking Connections: </a:t>
            </a:r>
            <a:r>
              <a:rPr b="0">
                <a:solidFill>
                  <a:srgbClr val="CBD5E1"/>
                </a:solidFill>
              </a:rPr>
              <a:t>Finds all computers that spoke to the same target server or were spoken to by a hacker.</a:t>
            </a:r>
          </a:p>
          <a:p>
            <a:pPr>
              <a:spcAft>
                <a:spcPts val="1000"/>
              </a:spcAft>
              <a:defRPr sz="1200">
                <a:latin typeface="Arial"/>
              </a:defRPr>
            </a:pPr>
            <a:r>
              <a:rPr b="1">
                <a:solidFill>
                  <a:srgbClr val="38BDF8"/>
                </a:solidFill>
              </a:rPr>
              <a:t>• </a:t>
            </a:r>
            <a:r>
              <a:rPr b="1">
                <a:solidFill>
                  <a:srgbClr val="F8FAFC"/>
                </a:solidFill>
              </a:rPr>
              <a:t>Pivot Search: </a:t>
            </a:r>
            <a:r>
              <a:rPr b="0">
                <a:solidFill>
                  <a:srgbClr val="CBD5E1"/>
                </a:solidFill>
              </a:rPr>
              <a:t>Clicking any computer instantly shows all its incoming and outgoing connections.</a:t>
            </a:r>
          </a:p>
        </p:txBody>
      </p:sp>
      <p:sp>
        <p:nvSpPr>
          <p:cNvPr id="9" name="Rounded Rectangle 8"/>
          <p:cNvSpPr/>
          <p:nvPr/>
        </p:nvSpPr>
        <p:spPr>
          <a:xfrm>
            <a:off x="6217920" y="1463040"/>
            <a:ext cx="521208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320040"/>
          </a:xfrm>
          <a:prstGeom prst="rect">
            <a:avLst/>
          </a:prstGeom>
          <a:noFill/>
        </p:spPr>
        <p:txBody>
          <a:bodyPr wrap="square" lIns="0" tIns="0" rIns="0" bIns="0">
            <a:spAutoFit/>
          </a:bodyPr>
          <a:lstStyle/>
          <a:p>
            <a:pPr>
              <a:defRPr sz="1300" b="1">
                <a:solidFill>
                  <a:srgbClr val="F59E0B"/>
                </a:solidFill>
                <a:latin typeface="Arial"/>
              </a:defRPr>
            </a:pPr>
            <a:r>
              <a:t>2. Following the DNS Clues</a:t>
            </a:r>
          </a:p>
        </p:txBody>
      </p:sp>
      <p:sp>
        <p:nvSpPr>
          <p:cNvPr id="11" name="TextBox 10"/>
          <p:cNvSpPr txBox="1"/>
          <p:nvPr/>
        </p:nvSpPr>
        <p:spPr>
          <a:xfrm>
            <a:off x="6400800" y="1965960"/>
            <a:ext cx="484632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Website Name to IP: </a:t>
            </a:r>
            <a:r>
              <a:rPr b="0">
                <a:solidFill>
                  <a:srgbClr val="CBD5E1"/>
                </a:solidFill>
              </a:rPr>
              <a:t>When a computer looks up a bad website (like malware-c2.xyz), it immediately tries to connect to that website's IP address.</a:t>
            </a:r>
          </a:p>
          <a:p>
            <a:pPr>
              <a:spcAft>
                <a:spcPts val="1000"/>
              </a:spcAft>
              <a:defRPr sz="1200">
                <a:latin typeface="Arial"/>
              </a:defRPr>
            </a:pPr>
            <a:r>
              <a:rPr b="1">
                <a:solidFill>
                  <a:srgbClr val="38BDF8"/>
                </a:solidFill>
              </a:rPr>
              <a:t>• </a:t>
            </a:r>
            <a:r>
              <a:rPr b="1">
                <a:solidFill>
                  <a:srgbClr val="F8FAFC"/>
                </a:solidFill>
              </a:rPr>
              <a:t>Connecting the Link: </a:t>
            </a:r>
            <a:r>
              <a:rPr b="0">
                <a:solidFill>
                  <a:srgbClr val="CBD5E1"/>
                </a:solidFill>
              </a:rPr>
              <a:t>Our system links the DNS query directly to the following connection attempt.</a:t>
            </a:r>
          </a:p>
        </p:txBody>
      </p:sp>
      <p:sp>
        <p:nvSpPr>
          <p:cNvPr id="12" name="Rounded Rectangle 11"/>
          <p:cNvSpPr/>
          <p:nvPr/>
        </p:nvSpPr>
        <p:spPr>
          <a:xfrm>
            <a:off x="731520" y="3977639"/>
            <a:ext cx="512064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142231"/>
            <a:ext cx="4754880" cy="320040"/>
          </a:xfrm>
          <a:prstGeom prst="rect">
            <a:avLst/>
          </a:prstGeom>
          <a:noFill/>
        </p:spPr>
        <p:txBody>
          <a:bodyPr wrap="square" lIns="0" tIns="0" rIns="0" bIns="0">
            <a:spAutoFit/>
          </a:bodyPr>
          <a:lstStyle/>
          <a:p>
            <a:pPr>
              <a:defRPr sz="1300" b="1">
                <a:solidFill>
                  <a:srgbClr val="10B981"/>
                </a:solidFill>
                <a:latin typeface="Arial"/>
              </a:defRPr>
            </a:pPr>
            <a:r>
              <a:t>3. Time Window Clustering</a:t>
            </a:r>
          </a:p>
        </p:txBody>
      </p:sp>
      <p:sp>
        <p:nvSpPr>
          <p:cNvPr id="14" name="TextBox 13"/>
          <p:cNvSpPr txBox="1"/>
          <p:nvPr/>
        </p:nvSpPr>
        <p:spPr>
          <a:xfrm>
            <a:off x="914400" y="4480559"/>
            <a:ext cx="475488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Group Events in 5-Minute Blocks: </a:t>
            </a:r>
            <a:r>
              <a:rPr b="0">
                <a:solidFill>
                  <a:srgbClr val="CBD5E1"/>
                </a:solidFill>
              </a:rPr>
              <a:t>Looks at events happening close together in time.</a:t>
            </a:r>
          </a:p>
          <a:p>
            <a:pPr>
              <a:spcAft>
                <a:spcPts val="1000"/>
              </a:spcAft>
              <a:defRPr sz="1200">
                <a:latin typeface="Arial"/>
              </a:defRPr>
            </a:pPr>
            <a:r>
              <a:rPr b="1">
                <a:solidFill>
                  <a:srgbClr val="38BDF8"/>
                </a:solidFill>
              </a:rPr>
              <a:t>• </a:t>
            </a:r>
            <a:r>
              <a:rPr b="1">
                <a:solidFill>
                  <a:srgbClr val="F8FAFC"/>
                </a:solidFill>
              </a:rPr>
              <a:t>Spots Fast Bursts: </a:t>
            </a:r>
            <a:r>
              <a:rPr b="0">
                <a:solidFill>
                  <a:srgbClr val="CBD5E1"/>
                </a:solidFill>
              </a:rPr>
              <a:t>Helps identify sudden bursts of activity, like an attacker quickly stealing data within 2 minutes.</a:t>
            </a:r>
          </a:p>
        </p:txBody>
      </p:sp>
      <p:sp>
        <p:nvSpPr>
          <p:cNvPr id="15" name="Rounded Rectangle 14"/>
          <p:cNvSpPr/>
          <p:nvPr/>
        </p:nvSpPr>
        <p:spPr>
          <a:xfrm>
            <a:off x="6217920" y="3977639"/>
            <a:ext cx="521208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4142231"/>
            <a:ext cx="4846320" cy="320040"/>
          </a:xfrm>
          <a:prstGeom prst="rect">
            <a:avLst/>
          </a:prstGeom>
          <a:noFill/>
        </p:spPr>
        <p:txBody>
          <a:bodyPr wrap="square" lIns="0" tIns="0" rIns="0" bIns="0">
            <a:spAutoFit/>
          </a:bodyPr>
          <a:lstStyle/>
          <a:p>
            <a:pPr>
              <a:defRPr sz="1300" b="1">
                <a:solidFill>
                  <a:srgbClr val="1E3A8A"/>
                </a:solidFill>
                <a:latin typeface="Arial"/>
              </a:defRPr>
            </a:pPr>
            <a:r>
              <a:t>4. Related Event Finder</a:t>
            </a:r>
          </a:p>
        </p:txBody>
      </p:sp>
      <p:sp>
        <p:nvSpPr>
          <p:cNvPr id="17" name="TextBox 16"/>
          <p:cNvSpPr txBox="1"/>
          <p:nvPr/>
        </p:nvSpPr>
        <p:spPr>
          <a:xfrm>
            <a:off x="6400800" y="4480559"/>
            <a:ext cx="484632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Instant Related Events: </a:t>
            </a:r>
            <a:r>
              <a:rPr b="0">
                <a:solidFill>
                  <a:srgbClr val="CBD5E1"/>
                </a:solidFill>
              </a:rPr>
              <a:t>When an analyst clicks any event, the system shows all other events connected to it.</a:t>
            </a:r>
          </a:p>
          <a:p>
            <a:pPr>
              <a:spcAft>
                <a:spcPts val="1000"/>
              </a:spcAft>
              <a:defRPr sz="1200">
                <a:latin typeface="Arial"/>
              </a:defRPr>
            </a:pPr>
            <a:r>
              <a:rPr b="1">
                <a:solidFill>
                  <a:srgbClr val="38BDF8"/>
                </a:solidFill>
              </a:rPr>
              <a:t>• </a:t>
            </a:r>
            <a:r>
              <a:rPr b="1">
                <a:solidFill>
                  <a:srgbClr val="F8FAFC"/>
                </a:solidFill>
              </a:rPr>
              <a:t>Clear Context: </a:t>
            </a:r>
            <a:r>
              <a:rPr b="0">
                <a:solidFill>
                  <a:srgbClr val="CBD5E1"/>
                </a:solidFill>
              </a:rPr>
              <a:t>Analyst sees the whole story instead of just one isolated alert.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Step 3: The 6 Common Cyber Attacks We Catch</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947617382"/>
              </p:ext>
            </p:extLst>
          </p:nvPr>
        </p:nvGraphicFramePr>
        <p:xfrm>
          <a:off x="731520" y="1463040"/>
          <a:ext cx="10728655" cy="477447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6156655">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679268">
                <a:tc>
                  <a:txBody>
                    <a:bodyPr/>
                    <a:lstStyle/>
                    <a:p>
                      <a:pPr>
                        <a:defRPr sz="1100" b="1">
                          <a:solidFill>
                            <a:srgbClr val="38BDF8"/>
                          </a:solidFill>
                          <a:latin typeface="Arial"/>
                        </a:defRPr>
                      </a:pPr>
                      <a:r>
                        <a:rPr sz="1600"/>
                        <a:t>Attack Type</a:t>
                      </a:r>
                    </a:p>
                  </a:txBody>
                  <a:tcPr>
                    <a:solidFill>
                      <a:srgbClr val="1E293B"/>
                    </a:solidFill>
                  </a:tcPr>
                </a:tc>
                <a:tc>
                  <a:txBody>
                    <a:bodyPr/>
                    <a:lstStyle/>
                    <a:p>
                      <a:pPr>
                        <a:defRPr sz="1100" b="1">
                          <a:solidFill>
                            <a:srgbClr val="38BDF8"/>
                          </a:solidFill>
                          <a:latin typeface="Arial"/>
                        </a:defRPr>
                      </a:pPr>
                      <a:r>
                        <a:rPr sz="1400"/>
                        <a:t>What Does the Attacker Do? </a:t>
                      </a:r>
                    </a:p>
                  </a:txBody>
                  <a:tcPr>
                    <a:solidFill>
                      <a:srgbClr val="1E293B"/>
                    </a:solidFill>
                  </a:tcPr>
                </a:tc>
                <a:tc>
                  <a:txBody>
                    <a:bodyPr/>
                    <a:lstStyle/>
                    <a:p>
                      <a:pPr>
                        <a:defRPr sz="1100" b="1">
                          <a:solidFill>
                            <a:srgbClr val="38BDF8"/>
                          </a:solidFill>
                          <a:latin typeface="Arial"/>
                        </a:defRPr>
                      </a:pPr>
                      <a:r>
                        <a:t>Severity</a:t>
                      </a:r>
                    </a:p>
                  </a:txBody>
                  <a:tcPr>
                    <a:solidFill>
                      <a:srgbClr val="1E293B"/>
                    </a:solidFill>
                  </a:tcPr>
                </a:tc>
                <a:extLst>
                  <a:ext uri="{0D108BD9-81ED-4DB2-BD59-A6C34878D82A}">
                    <a16:rowId xmlns:a16="http://schemas.microsoft.com/office/drawing/2014/main" val="10000"/>
                  </a:ext>
                </a:extLst>
              </a:tr>
              <a:tr h="679268">
                <a:tc>
                  <a:txBody>
                    <a:bodyPr/>
                    <a:lstStyle/>
                    <a:p>
                      <a:pPr>
                        <a:defRPr sz="1100" b="1">
                          <a:solidFill>
                            <a:srgbClr val="F8FAFC"/>
                          </a:solidFill>
                          <a:latin typeface="Arial"/>
                        </a:defRPr>
                      </a:pPr>
                      <a:r>
                        <a:rPr sz="1400">
                          <a:solidFill>
                            <a:schemeClr val="accent1">
                              <a:lumMod val="20000"/>
                              <a:lumOff val="80000"/>
                            </a:schemeClr>
                          </a:solidFill>
                        </a:rPr>
                        <a:t>1. Port Scanning</a:t>
                      </a:r>
                    </a:p>
                  </a:txBody>
                  <a:tcPr>
                    <a:solidFill>
                      <a:srgbClr val="18202F"/>
                    </a:solidFill>
                  </a:tcPr>
                </a:tc>
                <a:tc>
                  <a:txBody>
                    <a:bodyPr/>
                    <a:lstStyle/>
                    <a:p>
                      <a:pPr>
                        <a:defRPr sz="1100">
                          <a:solidFill>
                            <a:srgbClr val="CBD5E1"/>
                          </a:solidFill>
                          <a:latin typeface="Arial"/>
                        </a:defRPr>
                      </a:pPr>
                      <a:r>
                        <a:rPr sz="1400">
                          <a:solidFill>
                            <a:schemeClr val="accent1">
                              <a:lumMod val="20000"/>
                              <a:lumOff val="80000"/>
                            </a:schemeClr>
                          </a:solidFill>
                        </a:rPr>
                        <a:t>Checking many doors (ports) on a single server to find an open door to break in.</a:t>
                      </a:r>
                    </a:p>
                  </a:txBody>
                  <a:tcPr>
                    <a:solidFill>
                      <a:srgbClr val="18202F"/>
                    </a:solidFill>
                  </a:tcPr>
                </a:tc>
                <a:tc>
                  <a:txBody>
                    <a:bodyPr/>
                    <a:lstStyle/>
                    <a:p>
                      <a:pPr>
                        <a:defRPr sz="1100" b="1">
                          <a:solidFill>
                            <a:srgbClr val="EF4444"/>
                          </a:solidFill>
                          <a:latin typeface="Arial"/>
                        </a:defRPr>
                      </a:pPr>
                      <a:r>
                        <a:rPr sz="1400">
                          <a:solidFill>
                            <a:schemeClr val="accent1">
                              <a:lumMod val="20000"/>
                              <a:lumOff val="80000"/>
                            </a:schemeClr>
                          </a:solidFill>
                        </a:rPr>
                        <a:t>HIGH</a:t>
                      </a:r>
                    </a:p>
                  </a:txBody>
                  <a:tcPr>
                    <a:solidFill>
                      <a:srgbClr val="18202F"/>
                    </a:solidFill>
                  </a:tcPr>
                </a:tc>
                <a:extLst>
                  <a:ext uri="{0D108BD9-81ED-4DB2-BD59-A6C34878D82A}">
                    <a16:rowId xmlns:a16="http://schemas.microsoft.com/office/drawing/2014/main" val="10001"/>
                  </a:ext>
                </a:extLst>
              </a:tr>
              <a:tr h="679268">
                <a:tc>
                  <a:txBody>
                    <a:bodyPr/>
                    <a:lstStyle/>
                    <a:p>
                      <a:pPr>
                        <a:defRPr sz="1100" b="1">
                          <a:solidFill>
                            <a:srgbClr val="F8FAFC"/>
                          </a:solidFill>
                          <a:latin typeface="Arial"/>
                        </a:defRPr>
                      </a:pPr>
                      <a:r>
                        <a:rPr sz="1400">
                          <a:solidFill>
                            <a:schemeClr val="accent1">
                              <a:lumMod val="20000"/>
                              <a:lumOff val="80000"/>
                            </a:schemeClr>
                          </a:solidFill>
                        </a:rPr>
                        <a:t>2. Network Sweep</a:t>
                      </a:r>
                    </a:p>
                  </a:txBody>
                  <a:tcPr>
                    <a:solidFill>
                      <a:srgbClr val="141B2A"/>
                    </a:solidFill>
                  </a:tcPr>
                </a:tc>
                <a:tc>
                  <a:txBody>
                    <a:bodyPr/>
                    <a:lstStyle/>
                    <a:p>
                      <a:pPr>
                        <a:defRPr sz="1100">
                          <a:solidFill>
                            <a:srgbClr val="CBD5E1"/>
                          </a:solidFill>
                          <a:latin typeface="Arial"/>
                        </a:defRPr>
                      </a:pPr>
                      <a:r>
                        <a:rPr sz="1400">
                          <a:solidFill>
                            <a:schemeClr val="accent1">
                              <a:lumMod val="20000"/>
                              <a:lumOff val="80000"/>
                            </a:schemeClr>
                          </a:solidFill>
                        </a:rPr>
                        <a:t>Scanning across multiple computers on campus to see which ones are online.</a:t>
                      </a:r>
                    </a:p>
                  </a:txBody>
                  <a:tcPr>
                    <a:solidFill>
                      <a:srgbClr val="141B2A"/>
                    </a:solidFill>
                  </a:tcPr>
                </a:tc>
                <a:tc>
                  <a:txBody>
                    <a:bodyPr/>
                    <a:lstStyle/>
                    <a:p>
                      <a:pPr lvl="0" algn="l">
                        <a:lnSpc>
                          <a:spcPct val="100000"/>
                        </a:lnSpc>
                        <a:spcBef>
                          <a:spcPts val="0"/>
                        </a:spcBef>
                        <a:spcAft>
                          <a:spcPts val="0"/>
                        </a:spcAft>
                        <a:buNone/>
                      </a:pPr>
                      <a:r>
                        <a:rPr lang="en-US" sz="1400" b="0" i="0" u="none" strike="noStrike" noProof="0">
                          <a:solidFill>
                            <a:schemeClr val="accent1">
                              <a:lumMod val="20000"/>
                              <a:lumOff val="80000"/>
                            </a:schemeClr>
                          </a:solidFill>
                          <a:latin typeface="Calibri"/>
                          <a:ea typeface="Calibri"/>
                          <a:cs typeface="Calibri"/>
                        </a:rPr>
                        <a:t>HIGH</a:t>
                      </a:r>
                    </a:p>
                    <a:p>
                      <a:pPr lvl="0" algn="l">
                        <a:lnSpc>
                          <a:spcPct val="100000"/>
                        </a:lnSpc>
                        <a:spcBef>
                          <a:spcPts val="0"/>
                        </a:spcBef>
                        <a:spcAft>
                          <a:spcPts val="0"/>
                        </a:spcAft>
                        <a:buNone/>
                        <a:defRPr sz="1100" b="1">
                          <a:solidFill>
                            <a:srgbClr val="EF4444"/>
                          </a:solidFill>
                          <a:latin typeface="Arial"/>
                        </a:defRPr>
                      </a:pPr>
                      <a:endParaRPr lang="en-US" sz="1400" b="0" i="0" u="none" strike="noStrike" noProof="0" dirty="0">
                        <a:solidFill>
                          <a:srgbClr val="000000"/>
                        </a:solidFill>
                        <a:latin typeface="Calibri"/>
                        <a:ea typeface="Calibri"/>
                        <a:cs typeface="Calibri"/>
                      </a:endParaRPr>
                    </a:p>
                    <a:p>
                      <a:pPr lvl="0">
                        <a:buNone/>
                      </a:pPr>
                      <a:endParaRPr lang="en-US" sz="1100" dirty="0"/>
                    </a:p>
                  </a:txBody>
                  <a:tcPr>
                    <a:solidFill>
                      <a:srgbClr val="141B2A"/>
                    </a:solidFill>
                  </a:tcPr>
                </a:tc>
                <a:extLst>
                  <a:ext uri="{0D108BD9-81ED-4DB2-BD59-A6C34878D82A}">
                    <a16:rowId xmlns:a16="http://schemas.microsoft.com/office/drawing/2014/main" val="10002"/>
                  </a:ext>
                </a:extLst>
              </a:tr>
              <a:tr h="679268">
                <a:tc>
                  <a:txBody>
                    <a:bodyPr/>
                    <a:lstStyle/>
                    <a:p>
                      <a:pPr lvl="0">
                        <a:buNone/>
                      </a:pPr>
                      <a:r>
                        <a:rPr lang="en-US" sz="1400">
                          <a:solidFill>
                            <a:schemeClr val="accent1">
                              <a:lumMod val="20000"/>
                              <a:lumOff val="80000"/>
                            </a:schemeClr>
                          </a:solidFill>
                        </a:rPr>
                        <a:t>3. Suspicious DNS Lookups</a:t>
                      </a:r>
                      <a:endParaRPr sz="1400">
                        <a:solidFill>
                          <a:schemeClr val="accent1">
                            <a:lumMod val="20000"/>
                            <a:lumOff val="80000"/>
                          </a:schemeClr>
                        </a:solidFill>
                      </a:endParaRPr>
                    </a:p>
                  </a:txBody>
                  <a:tcPr>
                    <a:solidFill>
                      <a:srgbClr val="18202F"/>
                    </a:solidFill>
                  </a:tcPr>
                </a:tc>
                <a:tc>
                  <a:txBody>
                    <a:bodyPr/>
                    <a:lstStyle/>
                    <a:p>
                      <a:pPr>
                        <a:defRPr sz="1100">
                          <a:solidFill>
                            <a:srgbClr val="CBD5E1"/>
                          </a:solidFill>
                          <a:latin typeface="Arial"/>
                        </a:defRPr>
                      </a:pPr>
                      <a:r>
                        <a:rPr sz="1400" dirty="0">
                          <a:solidFill>
                            <a:schemeClr val="accent1">
                              <a:lumMod val="20000"/>
                              <a:lumOff val="80000"/>
                            </a:schemeClr>
                          </a:solidFill>
                        </a:rPr>
                        <a:t>Querying dangerous domain names (like .</a:t>
                      </a:r>
                      <a:r>
                        <a:rPr sz="1400" dirty="0" err="1">
                          <a:solidFill>
                            <a:schemeClr val="accent1">
                              <a:lumMod val="20000"/>
                              <a:lumOff val="80000"/>
                            </a:schemeClr>
                          </a:solidFill>
                        </a:rPr>
                        <a:t>xyz</a:t>
                      </a:r>
                      <a:r>
                        <a:rPr sz="1400" dirty="0">
                          <a:solidFill>
                            <a:schemeClr val="accent1">
                              <a:lumMod val="20000"/>
                              <a:lumOff val="80000"/>
                            </a:schemeClr>
                          </a:solidFill>
                        </a:rPr>
                        <a:t>, .</a:t>
                      </a:r>
                      <a:r>
                        <a:rPr sz="1400" dirty="0" err="1">
                          <a:solidFill>
                            <a:schemeClr val="accent1">
                              <a:lumMod val="20000"/>
                              <a:lumOff val="80000"/>
                            </a:schemeClr>
                          </a:solidFill>
                        </a:rPr>
                        <a:t>tk</a:t>
                      </a:r>
                      <a:r>
                        <a:rPr sz="1400" dirty="0">
                          <a:solidFill>
                            <a:schemeClr val="accent1">
                              <a:lumMod val="20000"/>
                              <a:lumOff val="80000"/>
                            </a:schemeClr>
                          </a:solidFill>
                        </a:rPr>
                        <a:t>, .top) used by malware.</a:t>
                      </a:r>
                    </a:p>
                  </a:txBody>
                  <a:tcPr>
                    <a:solidFill>
                      <a:srgbClr val="18202F"/>
                    </a:solidFill>
                  </a:tcPr>
                </a:tc>
                <a:tc>
                  <a:txBody>
                    <a:bodyPr/>
                    <a:lstStyle/>
                    <a:p>
                      <a:pPr lvl="0" algn="l">
                        <a:lnSpc>
                          <a:spcPct val="100000"/>
                        </a:lnSpc>
                        <a:spcBef>
                          <a:spcPts val="0"/>
                        </a:spcBef>
                        <a:spcAft>
                          <a:spcPts val="0"/>
                        </a:spcAft>
                        <a:buNone/>
                      </a:pPr>
                      <a:r>
                        <a:rPr lang="en-US" sz="1400" b="0" i="0" u="none" strike="noStrike" noProof="0">
                          <a:solidFill>
                            <a:schemeClr val="accent1">
                              <a:lumMod val="20000"/>
                              <a:lumOff val="80000"/>
                            </a:schemeClr>
                          </a:solidFill>
                          <a:latin typeface="Calibri"/>
                          <a:ea typeface="Calibri"/>
                          <a:cs typeface="Calibri"/>
                        </a:rPr>
                        <a:t>HIGH</a:t>
                      </a:r>
                    </a:p>
                    <a:p>
                      <a:pPr lvl="0" algn="l">
                        <a:lnSpc>
                          <a:spcPct val="100000"/>
                        </a:lnSpc>
                        <a:spcBef>
                          <a:spcPts val="0"/>
                        </a:spcBef>
                        <a:spcAft>
                          <a:spcPts val="0"/>
                        </a:spcAft>
                        <a:buNone/>
                        <a:defRPr sz="1100" b="1">
                          <a:solidFill>
                            <a:srgbClr val="EF4444"/>
                          </a:solidFill>
                          <a:latin typeface="Arial"/>
                        </a:defRPr>
                      </a:pPr>
                      <a:endParaRPr lang="en-US" sz="1400" b="0" i="0" u="none" strike="noStrike" noProof="0" dirty="0">
                        <a:solidFill>
                          <a:srgbClr val="000000"/>
                        </a:solidFill>
                        <a:latin typeface="Calibri"/>
                        <a:ea typeface="Calibri"/>
                        <a:cs typeface="Calibri"/>
                      </a:endParaRPr>
                    </a:p>
                    <a:p>
                      <a:pPr lvl="0">
                        <a:buNone/>
                      </a:pPr>
                      <a:endParaRPr lang="en-US" sz="1100" dirty="0"/>
                    </a:p>
                  </a:txBody>
                  <a:tcPr>
                    <a:solidFill>
                      <a:srgbClr val="18202F"/>
                    </a:solidFill>
                  </a:tcPr>
                </a:tc>
                <a:extLst>
                  <a:ext uri="{0D108BD9-81ED-4DB2-BD59-A6C34878D82A}">
                    <a16:rowId xmlns:a16="http://schemas.microsoft.com/office/drawing/2014/main" val="10003"/>
                  </a:ext>
                </a:extLst>
              </a:tr>
              <a:tr h="679268">
                <a:tc>
                  <a:txBody>
                    <a:bodyPr/>
                    <a:lstStyle/>
                    <a:p>
                      <a:pPr>
                        <a:defRPr sz="1100" b="1">
                          <a:solidFill>
                            <a:srgbClr val="F8FAFC"/>
                          </a:solidFill>
                          <a:latin typeface="Arial"/>
                        </a:defRPr>
                      </a:pPr>
                      <a:r>
                        <a:rPr sz="1400">
                          <a:solidFill>
                            <a:schemeClr val="accent1">
                              <a:lumMod val="20000"/>
                              <a:lumOff val="80000"/>
                            </a:schemeClr>
                          </a:solidFill>
                        </a:rPr>
                        <a:t>4. Unusual / Backdoor Port</a:t>
                      </a:r>
                    </a:p>
                  </a:txBody>
                  <a:tcPr>
                    <a:solidFill>
                      <a:srgbClr val="141B2A"/>
                    </a:solidFill>
                  </a:tcPr>
                </a:tc>
                <a:tc>
                  <a:txBody>
                    <a:bodyPr/>
                    <a:lstStyle/>
                    <a:p>
                      <a:pPr>
                        <a:defRPr sz="1100">
                          <a:solidFill>
                            <a:srgbClr val="CBD5E1"/>
                          </a:solidFill>
                          <a:latin typeface="Arial"/>
                        </a:defRPr>
                      </a:pPr>
                      <a:r>
                        <a:rPr sz="1400">
                          <a:solidFill>
                            <a:schemeClr val="accent1">
                              <a:lumMod val="20000"/>
                              <a:lumOff val="80000"/>
                            </a:schemeClr>
                          </a:solidFill>
                        </a:rPr>
                        <a:t>Connecting to known hacker ports (like 4444 used by Metasploit) to control a PC.</a:t>
                      </a:r>
                    </a:p>
                  </a:txBody>
                  <a:tcPr>
                    <a:solidFill>
                      <a:srgbClr val="141B2A"/>
                    </a:solidFill>
                  </a:tcPr>
                </a:tc>
                <a:tc>
                  <a:txBody>
                    <a:bodyPr/>
                    <a:lstStyle/>
                    <a:p>
                      <a:pPr>
                        <a:defRPr sz="1100" b="1">
                          <a:solidFill>
                            <a:srgbClr val="EF4444"/>
                          </a:solidFill>
                          <a:latin typeface="Arial"/>
                        </a:defRPr>
                      </a:pPr>
                      <a:r>
                        <a:rPr sz="1400">
                          <a:solidFill>
                            <a:schemeClr val="accent1">
                              <a:lumMod val="20000"/>
                              <a:lumOff val="80000"/>
                            </a:schemeClr>
                          </a:solidFill>
                        </a:rPr>
                        <a:t>CRITICAL</a:t>
                      </a:r>
                    </a:p>
                  </a:txBody>
                  <a:tcPr>
                    <a:solidFill>
                      <a:srgbClr val="141B2A"/>
                    </a:solidFill>
                  </a:tcPr>
                </a:tc>
                <a:extLst>
                  <a:ext uri="{0D108BD9-81ED-4DB2-BD59-A6C34878D82A}">
                    <a16:rowId xmlns:a16="http://schemas.microsoft.com/office/drawing/2014/main" val="10004"/>
                  </a:ext>
                </a:extLst>
              </a:tr>
              <a:tr h="679268">
                <a:tc>
                  <a:txBody>
                    <a:bodyPr/>
                    <a:lstStyle/>
                    <a:p>
                      <a:pPr>
                        <a:defRPr sz="1100" b="1">
                          <a:solidFill>
                            <a:srgbClr val="F8FAFC"/>
                          </a:solidFill>
                          <a:latin typeface="Arial"/>
                        </a:defRPr>
                      </a:pPr>
                      <a:r>
                        <a:rPr sz="1400">
                          <a:solidFill>
                            <a:schemeClr val="accent1">
                              <a:lumMod val="20000"/>
                              <a:lumOff val="80000"/>
                            </a:schemeClr>
                          </a:solidFill>
                        </a:rPr>
                        <a:t>5. Rapid Traffic Burst</a:t>
                      </a:r>
                    </a:p>
                  </a:txBody>
                  <a:tcPr>
                    <a:solidFill>
                      <a:srgbClr val="18202F"/>
                    </a:solidFill>
                  </a:tcPr>
                </a:tc>
                <a:tc>
                  <a:txBody>
                    <a:bodyPr/>
                    <a:lstStyle/>
                    <a:p>
                      <a:pPr>
                        <a:defRPr sz="1100">
                          <a:solidFill>
                            <a:srgbClr val="CBD5E1"/>
                          </a:solidFill>
                          <a:latin typeface="Arial"/>
                        </a:defRPr>
                      </a:pPr>
                      <a:r>
                        <a:rPr lang="en-US" sz="1400">
                          <a:solidFill>
                            <a:schemeClr val="accent1">
                              <a:lumMod val="20000"/>
                              <a:lumOff val="80000"/>
                            </a:schemeClr>
                          </a:solidFill>
                        </a:rPr>
                        <a:t>Uploading</a:t>
                      </a:r>
                      <a:r>
                        <a:rPr sz="1400">
                          <a:solidFill>
                            <a:schemeClr val="accent1">
                              <a:lumMod val="20000"/>
                              <a:lumOff val="80000"/>
                            </a:schemeClr>
                          </a:solidFill>
                        </a:rPr>
                        <a:t> huge amounts of data in a short time (data theft / exfiltration).</a:t>
                      </a:r>
                    </a:p>
                  </a:txBody>
                  <a:tcPr>
                    <a:solidFill>
                      <a:srgbClr val="18202F"/>
                    </a:solidFill>
                  </a:tcPr>
                </a:tc>
                <a:tc>
                  <a:txBody>
                    <a:bodyPr/>
                    <a:lstStyle/>
                    <a:p>
                      <a:pPr lvl="0" algn="l">
                        <a:lnSpc>
                          <a:spcPct val="100000"/>
                        </a:lnSpc>
                        <a:spcBef>
                          <a:spcPts val="0"/>
                        </a:spcBef>
                        <a:spcAft>
                          <a:spcPts val="0"/>
                        </a:spcAft>
                        <a:buNone/>
                      </a:pPr>
                      <a:r>
                        <a:rPr lang="en-US" sz="1400" b="0" i="0" u="none" strike="noStrike" noProof="0">
                          <a:solidFill>
                            <a:schemeClr val="accent1">
                              <a:lumMod val="20000"/>
                              <a:lumOff val="80000"/>
                            </a:schemeClr>
                          </a:solidFill>
                          <a:latin typeface="Calibri"/>
                          <a:ea typeface="Calibri"/>
                          <a:cs typeface="Calibri"/>
                        </a:rPr>
                        <a:t>HIGH</a:t>
                      </a:r>
                    </a:p>
                    <a:p>
                      <a:pPr lvl="0" algn="l">
                        <a:lnSpc>
                          <a:spcPct val="100000"/>
                        </a:lnSpc>
                        <a:spcBef>
                          <a:spcPts val="0"/>
                        </a:spcBef>
                        <a:spcAft>
                          <a:spcPts val="0"/>
                        </a:spcAft>
                        <a:buNone/>
                        <a:defRPr sz="1100" b="1">
                          <a:solidFill>
                            <a:srgbClr val="EF4444"/>
                          </a:solidFill>
                          <a:latin typeface="Arial"/>
                        </a:defRPr>
                      </a:pPr>
                      <a:endParaRPr lang="en-US" sz="1400" b="0" i="0" u="none" strike="noStrike" noProof="0" dirty="0">
                        <a:solidFill>
                          <a:srgbClr val="000000"/>
                        </a:solidFill>
                        <a:latin typeface="Calibri"/>
                        <a:ea typeface="Calibri"/>
                        <a:cs typeface="Calibri"/>
                      </a:endParaRPr>
                    </a:p>
                    <a:p>
                      <a:pPr lvl="0">
                        <a:buNone/>
                      </a:pPr>
                      <a:endParaRPr lang="en-US" sz="1100" dirty="0"/>
                    </a:p>
                  </a:txBody>
                  <a:tcPr>
                    <a:solidFill>
                      <a:srgbClr val="18202F"/>
                    </a:solidFill>
                  </a:tcPr>
                </a:tc>
                <a:extLst>
                  <a:ext uri="{0D108BD9-81ED-4DB2-BD59-A6C34878D82A}">
                    <a16:rowId xmlns:a16="http://schemas.microsoft.com/office/drawing/2014/main" val="10005"/>
                  </a:ext>
                </a:extLst>
              </a:tr>
              <a:tr h="679272">
                <a:tc>
                  <a:txBody>
                    <a:bodyPr/>
                    <a:lstStyle/>
                    <a:p>
                      <a:pPr>
                        <a:defRPr sz="1100" b="1">
                          <a:solidFill>
                            <a:srgbClr val="F8FAFC"/>
                          </a:solidFill>
                          <a:latin typeface="Arial"/>
                        </a:defRPr>
                      </a:pPr>
                      <a:r>
                        <a:rPr sz="1400">
                          <a:solidFill>
                            <a:schemeClr val="accent1">
                              <a:lumMod val="20000"/>
                              <a:lumOff val="80000"/>
                            </a:schemeClr>
                          </a:solidFill>
                        </a:rPr>
                        <a:t>6. Password Brute Force</a:t>
                      </a:r>
                    </a:p>
                  </a:txBody>
                  <a:tcPr>
                    <a:solidFill>
                      <a:srgbClr val="141B2A"/>
                    </a:solidFill>
                  </a:tcPr>
                </a:tc>
                <a:tc>
                  <a:txBody>
                    <a:bodyPr/>
                    <a:lstStyle/>
                    <a:p>
                      <a:pPr>
                        <a:defRPr sz="1100">
                          <a:solidFill>
                            <a:srgbClr val="CBD5E1"/>
                          </a:solidFill>
                          <a:latin typeface="Arial"/>
                        </a:defRPr>
                      </a:pPr>
                      <a:r>
                        <a:rPr sz="1400">
                          <a:solidFill>
                            <a:schemeClr val="accent1">
                              <a:lumMod val="20000"/>
                              <a:lumOff val="80000"/>
                            </a:schemeClr>
                          </a:solidFill>
                        </a:rPr>
                        <a:t>Trying to guess passwords repeatedly (like 15 failed SSH logins in a row).</a:t>
                      </a:r>
                    </a:p>
                  </a:txBody>
                  <a:tcPr>
                    <a:solidFill>
                      <a:srgbClr val="141B2A"/>
                    </a:solidFill>
                  </a:tcPr>
                </a:tc>
                <a:tc>
                  <a:txBody>
                    <a:bodyPr/>
                    <a:lstStyle/>
                    <a:p>
                      <a:pPr>
                        <a:defRPr sz="1100" b="1">
                          <a:solidFill>
                            <a:srgbClr val="F59E0B"/>
                          </a:solidFill>
                          <a:latin typeface="Arial"/>
                        </a:defRPr>
                      </a:pPr>
                      <a:r>
                        <a:rPr sz="1400">
                          <a:solidFill>
                            <a:schemeClr val="accent1">
                              <a:lumMod val="20000"/>
                              <a:lumOff val="80000"/>
                            </a:schemeClr>
                          </a:solidFill>
                        </a:rPr>
                        <a:t>MEDIUM</a:t>
                      </a:r>
                    </a:p>
                  </a:txBody>
                  <a:tcPr>
                    <a:solidFill>
                      <a:srgbClr val="141B2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The Demo Attack Story (What We Simulated)</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320040"/>
          </a:xfrm>
          <a:prstGeom prst="rect">
            <a:avLst/>
          </a:prstGeom>
          <a:noFill/>
        </p:spPr>
        <p:txBody>
          <a:bodyPr wrap="square" lIns="0" tIns="0" rIns="0" bIns="0">
            <a:spAutoFit/>
          </a:bodyPr>
          <a:lstStyle/>
          <a:p>
            <a:pPr>
              <a:defRPr sz="1300" b="1">
                <a:solidFill>
                  <a:srgbClr val="1E3A8A"/>
                </a:solidFill>
                <a:latin typeface="Arial"/>
              </a:defRPr>
            </a:pPr>
            <a:r>
              <a:t>Phase 1: Student Connects (08:00 AM)</a:t>
            </a:r>
          </a:p>
        </p:txBody>
      </p:sp>
      <p:sp>
        <p:nvSpPr>
          <p:cNvPr id="8" name="TextBox 7"/>
          <p:cNvSpPr txBox="1"/>
          <p:nvPr/>
        </p:nvSpPr>
        <p:spPr>
          <a:xfrm>
            <a:off x="914400" y="1965960"/>
            <a:ext cx="475488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Normal Arrival: </a:t>
            </a:r>
            <a:r>
              <a:rPr b="0">
                <a:solidFill>
                  <a:srgbClr val="CBD5E1"/>
                </a:solidFill>
              </a:rPr>
              <a:t>Student laptop 10.0.1.45 connects to campus Wi-Fi and gets an IP via DHCP.</a:t>
            </a:r>
          </a:p>
          <a:p>
            <a:pPr>
              <a:spcAft>
                <a:spcPts val="1000"/>
              </a:spcAft>
              <a:defRPr sz="1200">
                <a:latin typeface="Arial"/>
              </a:defRPr>
            </a:pPr>
            <a:r>
              <a:rPr b="1">
                <a:solidFill>
                  <a:srgbClr val="38BDF8"/>
                </a:solidFill>
              </a:rPr>
              <a:t>• </a:t>
            </a:r>
            <a:r>
              <a:rPr b="1">
                <a:solidFill>
                  <a:srgbClr val="F8FAFC"/>
                </a:solidFill>
              </a:rPr>
              <a:t>Normal Browsing: </a:t>
            </a:r>
            <a:r>
              <a:rPr b="0">
                <a:solidFill>
                  <a:srgbClr val="CBD5E1"/>
                </a:solidFill>
              </a:rPr>
              <a:t>Visits normal college portals (portal.campus.edu and moodle) to look innocent.</a:t>
            </a:r>
          </a:p>
        </p:txBody>
      </p:sp>
      <p:sp>
        <p:nvSpPr>
          <p:cNvPr id="9" name="Rounded Rectangle 8"/>
          <p:cNvSpPr/>
          <p:nvPr/>
        </p:nvSpPr>
        <p:spPr>
          <a:xfrm>
            <a:off x="6217920" y="1463040"/>
            <a:ext cx="521208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320040"/>
          </a:xfrm>
          <a:prstGeom prst="rect">
            <a:avLst/>
          </a:prstGeom>
          <a:noFill/>
        </p:spPr>
        <p:txBody>
          <a:bodyPr wrap="square" lIns="0" tIns="0" rIns="0" bIns="0">
            <a:spAutoFit/>
          </a:bodyPr>
          <a:lstStyle/>
          <a:p>
            <a:pPr>
              <a:defRPr sz="1300" b="1">
                <a:solidFill>
                  <a:srgbClr val="F59E0B"/>
                </a:solidFill>
                <a:latin typeface="Arial"/>
              </a:defRPr>
            </a:pPr>
            <a:r>
              <a:t>Phase 2: Scanning the Server (09:00 AM)</a:t>
            </a:r>
          </a:p>
        </p:txBody>
      </p:sp>
      <p:sp>
        <p:nvSpPr>
          <p:cNvPr id="11" name="TextBox 10"/>
          <p:cNvSpPr txBox="1"/>
          <p:nvPr/>
        </p:nvSpPr>
        <p:spPr>
          <a:xfrm>
            <a:off x="6400800" y="1965960"/>
            <a:ext cx="484632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Probing Doors: </a:t>
            </a:r>
            <a:r>
              <a:rPr b="0">
                <a:solidFill>
                  <a:srgbClr val="CBD5E1"/>
                </a:solidFill>
              </a:rPr>
              <a:t>The laptop starts scanning the Campus Web Server (10.0.2.10) on 10 different ports.</a:t>
            </a:r>
          </a:p>
          <a:p>
            <a:pPr>
              <a:spcAft>
                <a:spcPts val="1000"/>
              </a:spcAft>
              <a:defRPr sz="1200">
                <a:latin typeface="Arial"/>
              </a:defRPr>
            </a:pPr>
            <a:r>
              <a:rPr b="1">
                <a:solidFill>
                  <a:srgbClr val="38BDF8"/>
                </a:solidFill>
              </a:rPr>
              <a:t>• </a:t>
            </a:r>
            <a:r>
              <a:rPr b="1">
                <a:solidFill>
                  <a:srgbClr val="F8FAFC"/>
                </a:solidFill>
              </a:rPr>
              <a:t>First Alert: </a:t>
            </a:r>
            <a:r>
              <a:rPr b="0">
                <a:solidFill>
                  <a:srgbClr val="CBD5E1"/>
                </a:solidFill>
              </a:rPr>
              <a:t>Our system flags this as 'Port Scanning' within seconds.</a:t>
            </a:r>
          </a:p>
        </p:txBody>
      </p:sp>
      <p:sp>
        <p:nvSpPr>
          <p:cNvPr id="12" name="Rounded Rectangle 11"/>
          <p:cNvSpPr/>
          <p:nvPr/>
        </p:nvSpPr>
        <p:spPr>
          <a:xfrm>
            <a:off x="731520" y="3977639"/>
            <a:ext cx="512064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142231"/>
            <a:ext cx="4754880" cy="320040"/>
          </a:xfrm>
          <a:prstGeom prst="rect">
            <a:avLst/>
          </a:prstGeom>
          <a:noFill/>
        </p:spPr>
        <p:txBody>
          <a:bodyPr wrap="square" lIns="0" tIns="0" rIns="0" bIns="0">
            <a:spAutoFit/>
          </a:bodyPr>
          <a:lstStyle/>
          <a:p>
            <a:pPr>
              <a:defRPr sz="1300" b="1">
                <a:solidFill>
                  <a:srgbClr val="EF4444"/>
                </a:solidFill>
                <a:latin typeface="Arial"/>
              </a:defRPr>
            </a:pPr>
            <a:r>
              <a:t>Phase 3: Backdoor Shell (09:01 AM)</a:t>
            </a:r>
          </a:p>
        </p:txBody>
      </p:sp>
      <p:sp>
        <p:nvSpPr>
          <p:cNvPr id="14" name="TextBox 13"/>
          <p:cNvSpPr txBox="1"/>
          <p:nvPr/>
        </p:nvSpPr>
        <p:spPr>
          <a:xfrm>
            <a:off x="914400" y="4480559"/>
            <a:ext cx="475488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Dangerous Website: </a:t>
            </a:r>
            <a:r>
              <a:rPr b="0">
                <a:solidFill>
                  <a:srgbClr val="CBD5E1"/>
                </a:solidFill>
              </a:rPr>
              <a:t>Queries malware-c2.xyz to contact the attacker's server.</a:t>
            </a:r>
          </a:p>
          <a:p>
            <a:pPr>
              <a:spcAft>
                <a:spcPts val="1000"/>
              </a:spcAft>
              <a:defRPr sz="1200">
                <a:latin typeface="Arial"/>
              </a:defRPr>
            </a:pPr>
            <a:r>
              <a:rPr b="1">
                <a:solidFill>
                  <a:srgbClr val="38BDF8"/>
                </a:solidFill>
              </a:rPr>
              <a:t>• </a:t>
            </a:r>
            <a:r>
              <a:rPr b="1">
                <a:solidFill>
                  <a:srgbClr val="F8FAFC"/>
                </a:solidFill>
              </a:rPr>
              <a:t>Hacker Takes Control: </a:t>
            </a:r>
            <a:r>
              <a:rPr b="0">
                <a:solidFill>
                  <a:srgbClr val="CBD5E1"/>
                </a:solidFill>
              </a:rPr>
              <a:t>Connects to port 4444 (Metasploit shell) — flagged as CRITICAL.</a:t>
            </a:r>
          </a:p>
        </p:txBody>
      </p:sp>
      <p:sp>
        <p:nvSpPr>
          <p:cNvPr id="15" name="Rounded Rectangle 14"/>
          <p:cNvSpPr/>
          <p:nvPr/>
        </p:nvSpPr>
        <p:spPr>
          <a:xfrm>
            <a:off x="6217920" y="3977639"/>
            <a:ext cx="521208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4142231"/>
            <a:ext cx="4846320" cy="320040"/>
          </a:xfrm>
          <a:prstGeom prst="rect">
            <a:avLst/>
          </a:prstGeom>
          <a:noFill/>
        </p:spPr>
        <p:txBody>
          <a:bodyPr wrap="square" lIns="0" tIns="0" rIns="0" bIns="0">
            <a:spAutoFit/>
          </a:bodyPr>
          <a:lstStyle/>
          <a:p>
            <a:pPr>
              <a:defRPr sz="1300" b="1">
                <a:solidFill>
                  <a:srgbClr val="38BDF8"/>
                </a:solidFill>
                <a:latin typeface="Arial"/>
              </a:defRPr>
            </a:pPr>
            <a:r>
              <a:t>Phase 4: Stealing Data &amp; Moving (09:02 AM)</a:t>
            </a:r>
          </a:p>
        </p:txBody>
      </p:sp>
      <p:sp>
        <p:nvSpPr>
          <p:cNvPr id="17" name="TextBox 16"/>
          <p:cNvSpPr txBox="1"/>
          <p:nvPr/>
        </p:nvSpPr>
        <p:spPr>
          <a:xfrm>
            <a:off x="6400800" y="4480559"/>
            <a:ext cx="484632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Data Exfiltration: </a:t>
            </a:r>
            <a:r>
              <a:rPr b="0">
                <a:solidFill>
                  <a:srgbClr val="CBD5E1"/>
                </a:solidFill>
              </a:rPr>
              <a:t>Uploads 20 chunks of sensitive data in 2 minutes (Traffic Burst alert).</a:t>
            </a:r>
          </a:p>
          <a:p>
            <a:pPr>
              <a:spcAft>
                <a:spcPts val="1000"/>
              </a:spcAft>
              <a:defRPr sz="1200">
                <a:latin typeface="Arial"/>
              </a:defRPr>
            </a:pPr>
            <a:r>
              <a:rPr b="1">
                <a:solidFill>
                  <a:srgbClr val="38BDF8"/>
                </a:solidFill>
              </a:rPr>
              <a:t>• </a:t>
            </a:r>
            <a:r>
              <a:rPr b="1">
                <a:solidFill>
                  <a:srgbClr val="F8FAFC"/>
                </a:solidFill>
              </a:rPr>
              <a:t>Second Computer (10.0.1.78): </a:t>
            </a:r>
            <a:r>
              <a:rPr b="0">
                <a:solidFill>
                  <a:srgbClr val="CBD5E1"/>
                </a:solidFill>
              </a:rPr>
              <a:t>Tries to break into admin servers using 15 failed SSH password attempts.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The Main Dashboard: At-a-Glance Control</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2560320" cy="1097280"/>
          </a:xfrm>
          <a:prstGeom prst="roundRect">
            <a:avLst/>
          </a:prstGeom>
          <a:solidFill>
            <a:srgbClr val="18202F"/>
          </a:solidFill>
          <a:ln>
            <a:solidFill>
              <a:srgbClr val="2D3C5A"/>
            </a:solidFill>
          </a:ln>
        </p:spPr>
        <p:style>
          <a:lnRef idx="1">
            <a:schemeClr val="accent1"/>
          </a:lnRef>
          <a:fillRef idx="3">
            <a:schemeClr val="accent1"/>
          </a:fillRef>
          <a:effectRef idx="2">
            <a:schemeClr val="accent1"/>
          </a:effectRef>
          <a:fontRef idx="minor">
            <a:schemeClr val="lt1"/>
          </a:fontRef>
        </p:style>
        <p:txBody>
          <a:bodyPr lIns="137160" tIns="109728" rIns="91440" bIns="45720" rtlCol="0" anchor="ctr"/>
          <a:lstStyle/>
          <a:p>
            <a:pPr algn="ctr">
              <a:defRPr sz="850" b="1">
                <a:solidFill>
                  <a:srgbClr val="38BDF8"/>
                </a:solidFill>
                <a:latin typeface="Arial"/>
              </a:defRPr>
            </a:pPr>
            <a:r>
              <a:t>TOTAL LOG EVENTS</a:t>
            </a:r>
          </a:p>
          <a:p>
            <a:pPr>
              <a:defRPr sz="1600" b="1">
                <a:solidFill>
                  <a:srgbClr val="F8FAFC"/>
                </a:solidFill>
                <a:latin typeface="Arial"/>
              </a:defRPr>
            </a:pPr>
            <a:r>
              <a:t>~400 Events</a:t>
            </a:r>
          </a:p>
          <a:p>
            <a:pPr>
              <a:defRPr sz="850">
                <a:solidFill>
                  <a:srgbClr val="94A3B8"/>
                </a:solidFill>
                <a:latin typeface="Arial"/>
              </a:defRPr>
            </a:pPr>
            <a:r>
              <a:t>Cleaned &amp; Indexed</a:t>
            </a:r>
          </a:p>
        </p:txBody>
      </p:sp>
      <p:sp>
        <p:nvSpPr>
          <p:cNvPr id="7" name="Rounded Rectangle 6"/>
          <p:cNvSpPr/>
          <p:nvPr/>
        </p:nvSpPr>
        <p:spPr>
          <a:xfrm>
            <a:off x="3456432" y="1463040"/>
            <a:ext cx="2560320" cy="1097280"/>
          </a:xfrm>
          <a:prstGeom prst="roundRect">
            <a:avLst/>
          </a:prstGeom>
          <a:solidFill>
            <a:srgbClr val="18202F"/>
          </a:solidFill>
          <a:ln>
            <a:solidFill>
              <a:srgbClr val="2D3C5A"/>
            </a:solidFill>
          </a:ln>
        </p:spPr>
        <p:style>
          <a:lnRef idx="1">
            <a:schemeClr val="accent1"/>
          </a:lnRef>
          <a:fillRef idx="3">
            <a:schemeClr val="accent1"/>
          </a:fillRef>
          <a:effectRef idx="2">
            <a:schemeClr val="accent1"/>
          </a:effectRef>
          <a:fontRef idx="minor">
            <a:schemeClr val="lt1"/>
          </a:fontRef>
        </p:style>
        <p:txBody>
          <a:bodyPr lIns="137160" tIns="109728" rtlCol="0" anchor="ctr"/>
          <a:lstStyle/>
          <a:p>
            <a:pPr algn="ctr">
              <a:defRPr sz="850" b="1">
                <a:solidFill>
                  <a:srgbClr val="10B981"/>
                </a:solidFill>
                <a:latin typeface="Arial"/>
              </a:defRPr>
            </a:pPr>
            <a:r>
              <a:t>ACTIVE COMPUTERS</a:t>
            </a:r>
          </a:p>
          <a:p>
            <a:pPr>
              <a:defRPr sz="1600" b="1">
                <a:solidFill>
                  <a:srgbClr val="F8FAFC"/>
                </a:solidFill>
                <a:latin typeface="Arial"/>
              </a:defRPr>
            </a:pPr>
            <a:r>
              <a:t>35+ Devices</a:t>
            </a:r>
          </a:p>
          <a:p>
            <a:pPr>
              <a:defRPr sz="850">
                <a:solidFill>
                  <a:srgbClr val="94A3B8"/>
                </a:solidFill>
                <a:latin typeface="Arial"/>
              </a:defRPr>
            </a:pPr>
            <a:r>
              <a:t>Laptops, Servers, Wi-Fi</a:t>
            </a:r>
          </a:p>
        </p:txBody>
      </p:sp>
      <p:sp>
        <p:nvSpPr>
          <p:cNvPr id="8" name="Rounded Rectangle 7"/>
          <p:cNvSpPr/>
          <p:nvPr/>
        </p:nvSpPr>
        <p:spPr>
          <a:xfrm>
            <a:off x="6181344" y="1463040"/>
            <a:ext cx="2560320" cy="1097280"/>
          </a:xfrm>
          <a:prstGeom prst="roundRect">
            <a:avLst/>
          </a:prstGeom>
          <a:solidFill>
            <a:srgbClr val="18202F"/>
          </a:solidFill>
          <a:ln>
            <a:solidFill>
              <a:srgbClr val="2D3C5A"/>
            </a:solidFill>
          </a:ln>
        </p:spPr>
        <p:style>
          <a:lnRef idx="1">
            <a:schemeClr val="accent1"/>
          </a:lnRef>
          <a:fillRef idx="3">
            <a:schemeClr val="accent1"/>
          </a:fillRef>
          <a:effectRef idx="2">
            <a:schemeClr val="accent1"/>
          </a:effectRef>
          <a:fontRef idx="minor">
            <a:schemeClr val="lt1"/>
          </a:fontRef>
        </p:style>
        <p:txBody>
          <a:bodyPr lIns="137160" tIns="109728" rtlCol="0" anchor="ctr"/>
          <a:lstStyle/>
          <a:p>
            <a:pPr algn="ctr">
              <a:defRPr sz="850" b="1">
                <a:solidFill>
                  <a:srgbClr val="EF4444"/>
                </a:solidFill>
                <a:latin typeface="Arial"/>
              </a:defRPr>
            </a:pPr>
            <a:r>
              <a:t>SECURITY ALERTS</a:t>
            </a:r>
          </a:p>
          <a:p>
            <a:pPr>
              <a:defRPr sz="1600" b="1">
                <a:solidFill>
                  <a:srgbClr val="F8FAFC"/>
                </a:solidFill>
                <a:latin typeface="Arial"/>
              </a:defRPr>
            </a:pPr>
            <a:r>
              <a:t>10+ Warnings</a:t>
            </a:r>
          </a:p>
          <a:p>
            <a:pPr>
              <a:defRPr sz="850">
                <a:solidFill>
                  <a:srgbClr val="94A3B8"/>
                </a:solidFill>
                <a:latin typeface="Arial"/>
              </a:defRPr>
            </a:pPr>
            <a:r>
              <a:t>Detected Automatically</a:t>
            </a:r>
          </a:p>
        </p:txBody>
      </p:sp>
      <p:sp>
        <p:nvSpPr>
          <p:cNvPr id="9" name="Rounded Rectangle 8"/>
          <p:cNvSpPr/>
          <p:nvPr/>
        </p:nvSpPr>
        <p:spPr>
          <a:xfrm>
            <a:off x="8906256" y="1463040"/>
            <a:ext cx="2560320" cy="1097280"/>
          </a:xfrm>
          <a:prstGeom prst="roundRect">
            <a:avLst/>
          </a:prstGeom>
          <a:solidFill>
            <a:srgbClr val="18202F"/>
          </a:solidFill>
          <a:ln>
            <a:solidFill>
              <a:srgbClr val="2D3C5A"/>
            </a:solidFill>
          </a:ln>
        </p:spPr>
        <p:style>
          <a:lnRef idx="1">
            <a:schemeClr val="accent1"/>
          </a:lnRef>
          <a:fillRef idx="3">
            <a:schemeClr val="accent1"/>
          </a:fillRef>
          <a:effectRef idx="2">
            <a:schemeClr val="accent1"/>
          </a:effectRef>
          <a:fontRef idx="minor">
            <a:schemeClr val="lt1"/>
          </a:fontRef>
        </p:style>
        <p:txBody>
          <a:bodyPr lIns="137160" tIns="109728" rtlCol="0" anchor="ctr"/>
          <a:lstStyle/>
          <a:p>
            <a:pPr algn="ctr">
              <a:defRPr sz="850" b="1">
                <a:solidFill>
                  <a:srgbClr val="F59E0B"/>
                </a:solidFill>
                <a:latin typeface="Arial"/>
              </a:defRPr>
            </a:pPr>
            <a:r>
              <a:t>ALERT SEVERITY</a:t>
            </a:r>
          </a:p>
          <a:p>
            <a:pPr>
              <a:defRPr sz="1600" b="1">
                <a:solidFill>
                  <a:srgbClr val="F8FAFC"/>
                </a:solidFill>
                <a:latin typeface="Arial"/>
              </a:defRPr>
            </a:pPr>
            <a:r>
              <a:t>Critical / High</a:t>
            </a:r>
          </a:p>
          <a:p>
            <a:pPr>
              <a:defRPr sz="850">
                <a:solidFill>
                  <a:srgbClr val="94A3B8"/>
                </a:solidFill>
                <a:latin typeface="Arial"/>
              </a:defRPr>
            </a:pPr>
            <a:r>
              <a:t>Prioritized for Action</a:t>
            </a:r>
          </a:p>
        </p:txBody>
      </p:sp>
      <p:sp>
        <p:nvSpPr>
          <p:cNvPr id="10" name="Rounded Rectangle 9"/>
          <p:cNvSpPr/>
          <p:nvPr/>
        </p:nvSpPr>
        <p:spPr>
          <a:xfrm>
            <a:off x="731520" y="2788920"/>
            <a:ext cx="5120640" cy="352044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953512"/>
            <a:ext cx="4754880" cy="320040"/>
          </a:xfrm>
          <a:prstGeom prst="rect">
            <a:avLst/>
          </a:prstGeom>
          <a:noFill/>
        </p:spPr>
        <p:txBody>
          <a:bodyPr wrap="square" lIns="0" tIns="0" rIns="0" bIns="0">
            <a:spAutoFit/>
          </a:bodyPr>
          <a:lstStyle/>
          <a:p>
            <a:pPr>
              <a:defRPr sz="1300" b="1">
                <a:solidFill>
                  <a:srgbClr val="38BDF8"/>
                </a:solidFill>
                <a:latin typeface="Arial"/>
              </a:defRPr>
            </a:pPr>
            <a:r>
              <a:t>Visual Charts for Fast Understanding</a:t>
            </a:r>
          </a:p>
        </p:txBody>
      </p:sp>
      <p:sp>
        <p:nvSpPr>
          <p:cNvPr id="12" name="TextBox 11"/>
          <p:cNvSpPr txBox="1"/>
          <p:nvPr/>
        </p:nvSpPr>
        <p:spPr>
          <a:xfrm>
            <a:off x="914400" y="3246120"/>
            <a:ext cx="4754880" cy="2926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Activity Timeline Chart: </a:t>
            </a:r>
            <a:r>
              <a:rPr b="0">
                <a:solidFill>
                  <a:srgbClr val="CBD5E1"/>
                </a:solidFill>
              </a:rPr>
              <a:t>A bar chart that shows network traffic hour-by-hour. You can immediately see the big spike at 9:00 AM when the attack started!</a:t>
            </a:r>
          </a:p>
          <a:p>
            <a:pPr>
              <a:spcAft>
                <a:spcPts val="1000"/>
              </a:spcAft>
              <a:defRPr sz="1200">
                <a:latin typeface="Arial"/>
              </a:defRPr>
            </a:pPr>
            <a:r>
              <a:rPr b="1">
                <a:solidFill>
                  <a:srgbClr val="38BDF8"/>
                </a:solidFill>
              </a:rPr>
              <a:t>• </a:t>
            </a:r>
            <a:r>
              <a:rPr b="1">
                <a:solidFill>
                  <a:srgbClr val="F8FAFC"/>
                </a:solidFill>
              </a:rPr>
              <a:t>Protocol Donut Chart: </a:t>
            </a:r>
            <a:r>
              <a:rPr b="0">
                <a:solidFill>
                  <a:srgbClr val="CBD5E1"/>
                </a:solidFill>
              </a:rPr>
              <a:t>Shows a breakdown of what kinds of traffic occurred (Web, DNS, Email, SSH).</a:t>
            </a:r>
          </a:p>
        </p:txBody>
      </p:sp>
      <p:sp>
        <p:nvSpPr>
          <p:cNvPr id="13" name="Rounded Rectangle 12"/>
          <p:cNvSpPr/>
          <p:nvPr/>
        </p:nvSpPr>
        <p:spPr>
          <a:xfrm>
            <a:off x="6217920" y="2788920"/>
            <a:ext cx="5212080" cy="352044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2953512"/>
            <a:ext cx="4846320" cy="320040"/>
          </a:xfrm>
          <a:prstGeom prst="rect">
            <a:avLst/>
          </a:prstGeom>
          <a:noFill/>
        </p:spPr>
        <p:txBody>
          <a:bodyPr wrap="square" lIns="0" tIns="0" rIns="0" bIns="0">
            <a:spAutoFit/>
          </a:bodyPr>
          <a:lstStyle/>
          <a:p>
            <a:pPr>
              <a:defRPr sz="1300" b="1">
                <a:solidFill>
                  <a:srgbClr val="F59E0B"/>
                </a:solidFill>
                <a:latin typeface="Arial"/>
              </a:defRPr>
            </a:pPr>
            <a:r>
              <a:t>Immediate Action Panels</a:t>
            </a:r>
          </a:p>
        </p:txBody>
      </p:sp>
      <p:sp>
        <p:nvSpPr>
          <p:cNvPr id="15" name="TextBox 14"/>
          <p:cNvSpPr txBox="1"/>
          <p:nvPr/>
        </p:nvSpPr>
        <p:spPr>
          <a:xfrm>
            <a:off x="6400800" y="3246120"/>
            <a:ext cx="4846320" cy="2926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Top Talkers List: </a:t>
            </a:r>
            <a:r>
              <a:rPr b="0">
                <a:solidFill>
                  <a:srgbClr val="CBD5E1"/>
                </a:solidFill>
              </a:rPr>
              <a:t>Shows which IP addresses sent the most traffic. The hacker's laptop is right at the top!</a:t>
            </a:r>
          </a:p>
          <a:p>
            <a:pPr>
              <a:spcAft>
                <a:spcPts val="1000"/>
              </a:spcAft>
              <a:defRPr sz="1200">
                <a:latin typeface="Arial"/>
              </a:defRPr>
            </a:pPr>
            <a:r>
              <a:rPr b="1">
                <a:solidFill>
                  <a:srgbClr val="38BDF8"/>
                </a:solidFill>
              </a:rPr>
              <a:t>• </a:t>
            </a:r>
            <a:r>
              <a:rPr b="1">
                <a:solidFill>
                  <a:srgbClr val="F8FAFC"/>
                </a:solidFill>
              </a:rPr>
              <a:t>Live Alerts Feed: </a:t>
            </a:r>
            <a:r>
              <a:rPr b="0">
                <a:solidFill>
                  <a:srgbClr val="CBD5E1"/>
                </a:solidFill>
              </a:rPr>
              <a:t>Lists every detected threat with its severity badge. Clicking an alert lets you jump straight to the evidence.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The Attack Timeline: Step-by-Step History</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200055"/>
          </a:xfrm>
          <a:prstGeom prst="rect">
            <a:avLst/>
          </a:prstGeom>
          <a:noFill/>
        </p:spPr>
        <p:txBody>
          <a:bodyPr wrap="square" lIns="0" tIns="0" rIns="0" bIns="0" anchor="t">
            <a:spAutoFit/>
          </a:bodyPr>
          <a:lstStyle/>
          <a:p>
            <a:pPr>
              <a:defRPr sz="1300" b="1">
                <a:solidFill>
                  <a:srgbClr val="38BDF8"/>
                </a:solidFill>
                <a:latin typeface="Arial"/>
              </a:defRPr>
            </a:pPr>
            <a:r>
              <a:rPr lang="en-US"/>
              <a:t>    </a:t>
            </a:r>
            <a:r>
              <a:t>How the Timeline Helps the Investigator</a:t>
            </a:r>
          </a:p>
        </p:txBody>
      </p:sp>
      <p:sp>
        <p:nvSpPr>
          <p:cNvPr id="8" name="TextBox 7"/>
          <p:cNvSpPr txBox="1"/>
          <p:nvPr/>
        </p:nvSpPr>
        <p:spPr>
          <a:xfrm>
            <a:off x="914400" y="2011680"/>
            <a:ext cx="475488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Strict Order of Time: </a:t>
            </a:r>
            <a:r>
              <a:rPr b="0">
                <a:solidFill>
                  <a:srgbClr val="CBD5E1"/>
                </a:solidFill>
              </a:rPr>
              <a:t>Every event is arranged from earliest to latest, like chapters in a book.</a:t>
            </a:r>
          </a:p>
          <a:p>
            <a:pPr>
              <a:spcAft>
                <a:spcPts val="1000"/>
              </a:spcAft>
              <a:defRPr sz="1200">
                <a:latin typeface="Arial"/>
              </a:defRPr>
            </a:pPr>
            <a:r>
              <a:rPr b="1">
                <a:solidFill>
                  <a:srgbClr val="38BDF8"/>
                </a:solidFill>
              </a:rPr>
              <a:t>• </a:t>
            </a:r>
            <a:r>
              <a:rPr b="1">
                <a:solidFill>
                  <a:srgbClr val="F8FAFC"/>
                </a:solidFill>
              </a:rPr>
              <a:t>Easy Search &amp; Filters: </a:t>
            </a:r>
            <a:r>
              <a:rPr b="0">
                <a:solidFill>
                  <a:srgbClr val="CBD5E1"/>
                </a:solidFill>
              </a:rPr>
              <a:t>Filter by IP address (e.g. type '10.0.1.45'), protocol (HTTP or TCP), or severity level.</a:t>
            </a:r>
          </a:p>
          <a:p>
            <a:pPr>
              <a:spcAft>
                <a:spcPts val="1000"/>
              </a:spcAft>
              <a:defRPr sz="1200">
                <a:latin typeface="Arial"/>
              </a:defRPr>
            </a:pPr>
            <a:r>
              <a:rPr b="1">
                <a:solidFill>
                  <a:srgbClr val="38BDF8"/>
                </a:solidFill>
              </a:rPr>
              <a:t>• </a:t>
            </a:r>
            <a:r>
              <a:rPr b="1">
                <a:solidFill>
                  <a:srgbClr val="F8FAFC"/>
                </a:solidFill>
              </a:rPr>
              <a:t>Color-Coded Badges: </a:t>
            </a:r>
            <a:r>
              <a:rPr b="0">
                <a:solidFill>
                  <a:srgbClr val="CBD5E1"/>
                </a:solidFill>
              </a:rPr>
              <a:t>Green for normal, Yellow for medium risk, Red for critical attacks.</a:t>
            </a:r>
          </a:p>
          <a:p>
            <a:pPr>
              <a:spcAft>
                <a:spcPts val="1000"/>
              </a:spcAft>
              <a:defRPr sz="1200">
                <a:latin typeface="Arial"/>
              </a:defRPr>
            </a:pPr>
            <a:r>
              <a:rPr b="1">
                <a:solidFill>
                  <a:srgbClr val="38BDF8"/>
                </a:solidFill>
              </a:rPr>
              <a:t>• </a:t>
            </a:r>
            <a:r>
              <a:rPr b="1">
                <a:solidFill>
                  <a:srgbClr val="F8FAFC"/>
                </a:solidFill>
              </a:rPr>
              <a:t>Instant Results: </a:t>
            </a:r>
            <a:r>
              <a:rPr b="0">
                <a:solidFill>
                  <a:srgbClr val="CBD5E1"/>
                </a:solidFill>
              </a:rPr>
              <a:t>Filtering through hundreds of records happens instantly without refreshing the page.</a:t>
            </a:r>
          </a:p>
        </p:txBody>
      </p:sp>
      <p:sp>
        <p:nvSpPr>
          <p:cNvPr id="9" name="Rounded Rectangle 8"/>
          <p:cNvSpPr/>
          <p:nvPr/>
        </p:nvSpPr>
        <p:spPr>
          <a:xfrm>
            <a:off x="6217920" y="1463040"/>
            <a:ext cx="52120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200055"/>
          </a:xfrm>
          <a:prstGeom prst="rect">
            <a:avLst/>
          </a:prstGeom>
          <a:noFill/>
        </p:spPr>
        <p:txBody>
          <a:bodyPr wrap="square" lIns="0" tIns="0" rIns="0" bIns="0" anchor="t">
            <a:spAutoFit/>
          </a:bodyPr>
          <a:lstStyle/>
          <a:p>
            <a:pPr>
              <a:defRPr sz="1300" b="1">
                <a:solidFill>
                  <a:srgbClr val="10B981"/>
                </a:solidFill>
                <a:latin typeface="Arial"/>
              </a:defRPr>
            </a:pPr>
            <a:r>
              <a:rPr lang="en-US"/>
              <a:t>     </a:t>
            </a:r>
            <a:r>
              <a:t>Click Any Event to See Proof</a:t>
            </a:r>
          </a:p>
        </p:txBody>
      </p:sp>
      <p:sp>
        <p:nvSpPr>
          <p:cNvPr id="11" name="TextBox 10"/>
          <p:cNvSpPr txBox="1"/>
          <p:nvPr/>
        </p:nvSpPr>
        <p:spPr>
          <a:xfrm>
            <a:off x="6400800" y="2011680"/>
            <a:ext cx="484632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Full Detail Pop-Up: </a:t>
            </a:r>
            <a:r>
              <a:rPr b="0">
                <a:solidFill>
                  <a:srgbClr val="CBD5E1"/>
                </a:solidFill>
              </a:rPr>
              <a:t>Clicking any event opens a detailed pop-up window.</a:t>
            </a:r>
          </a:p>
          <a:p>
            <a:pPr>
              <a:spcAft>
                <a:spcPts val="1000"/>
              </a:spcAft>
              <a:defRPr sz="1200">
                <a:latin typeface="Arial"/>
              </a:defRPr>
            </a:pPr>
            <a:r>
              <a:rPr b="1">
                <a:solidFill>
                  <a:srgbClr val="38BDF8"/>
                </a:solidFill>
              </a:rPr>
              <a:t>• </a:t>
            </a:r>
            <a:r>
              <a:rPr b="1">
                <a:solidFill>
                  <a:srgbClr val="F8FAFC"/>
                </a:solidFill>
              </a:rPr>
              <a:t>Exact Details: </a:t>
            </a:r>
            <a:r>
              <a:rPr b="0">
                <a:solidFill>
                  <a:srgbClr val="CBD5E1"/>
                </a:solidFill>
              </a:rPr>
              <a:t>Shows exact time down to the second, source port, destination port, and device name.</a:t>
            </a:r>
          </a:p>
          <a:p>
            <a:pPr>
              <a:spcAft>
                <a:spcPts val="1000"/>
              </a:spcAft>
              <a:defRPr sz="1200">
                <a:latin typeface="Arial"/>
              </a:defRPr>
            </a:pPr>
            <a:r>
              <a:rPr b="1">
                <a:solidFill>
                  <a:srgbClr val="38BDF8"/>
                </a:solidFill>
              </a:rPr>
              <a:t>• </a:t>
            </a:r>
            <a:r>
              <a:rPr b="1">
                <a:solidFill>
                  <a:srgbClr val="F8FAFC"/>
                </a:solidFill>
              </a:rPr>
              <a:t>Raw Data Proof: </a:t>
            </a:r>
            <a:r>
              <a:rPr b="0">
                <a:solidFill>
                  <a:srgbClr val="CBD5E1"/>
                </a:solidFill>
              </a:rPr>
              <a:t>Shows the raw text line from the original log file for legal proof.</a:t>
            </a:r>
          </a:p>
          <a:p>
            <a:pPr>
              <a:spcAft>
                <a:spcPts val="1000"/>
              </a:spcAft>
              <a:defRPr sz="1200">
                <a:latin typeface="Arial"/>
              </a:defRPr>
            </a:pPr>
            <a:r>
              <a:rPr b="1">
                <a:solidFill>
                  <a:srgbClr val="38BDF8"/>
                </a:solidFill>
              </a:rPr>
              <a:t>• </a:t>
            </a:r>
            <a:r>
              <a:rPr b="1">
                <a:solidFill>
                  <a:srgbClr val="F8FAFC"/>
                </a:solidFill>
              </a:rPr>
              <a:t>One-Click Pin to Case: </a:t>
            </a:r>
            <a:r>
              <a:rPr b="0">
                <a:solidFill>
                  <a:srgbClr val="CBD5E1"/>
                </a:solidFill>
              </a:rPr>
              <a:t>Allows the analyst to bookmark this event into an active investigation case.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Interactive Network Map (Cytoscape.js)</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200055"/>
          </a:xfrm>
          <a:prstGeom prst="rect">
            <a:avLst/>
          </a:prstGeom>
          <a:noFill/>
        </p:spPr>
        <p:txBody>
          <a:bodyPr wrap="square" lIns="0" tIns="0" rIns="0" bIns="0" anchor="t">
            <a:spAutoFit/>
          </a:bodyPr>
          <a:lstStyle/>
          <a:p>
            <a:pPr>
              <a:defRPr sz="1300" b="1">
                <a:solidFill>
                  <a:srgbClr val="38BDF8"/>
                </a:solidFill>
                <a:latin typeface="Arial"/>
              </a:defRPr>
            </a:pPr>
            <a:r>
              <a:rPr lang="en-US"/>
              <a:t>    </a:t>
            </a:r>
            <a:r>
              <a:t>A Visual Map of All Connected Computers</a:t>
            </a:r>
          </a:p>
        </p:txBody>
      </p:sp>
      <p:sp>
        <p:nvSpPr>
          <p:cNvPr id="8" name="TextBox 7"/>
          <p:cNvSpPr txBox="1"/>
          <p:nvPr/>
        </p:nvSpPr>
        <p:spPr>
          <a:xfrm>
            <a:off x="914400" y="2011680"/>
            <a:ext cx="475488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Circles &amp; Lines: </a:t>
            </a:r>
            <a:r>
              <a:rPr b="0">
                <a:solidFill>
                  <a:srgbClr val="CBD5E1"/>
                </a:solidFill>
              </a:rPr>
              <a:t>Each computer or server is drawn as a circle (node). Connections between them are drawn as lines (edges).</a:t>
            </a:r>
          </a:p>
          <a:p>
            <a:pPr>
              <a:spcAft>
                <a:spcPts val="1000"/>
              </a:spcAft>
              <a:defRPr sz="1200">
                <a:latin typeface="Arial"/>
              </a:defRPr>
            </a:pPr>
            <a:r>
              <a:rPr b="1">
                <a:solidFill>
                  <a:srgbClr val="38BDF8"/>
                </a:solidFill>
              </a:rPr>
              <a:t>• </a:t>
            </a:r>
            <a:r>
              <a:rPr b="1">
                <a:solidFill>
                  <a:srgbClr val="F8FAFC"/>
                </a:solidFill>
              </a:rPr>
              <a:t>Clear Color Meaning: </a:t>
            </a:r>
            <a:r>
              <a:rPr b="0">
                <a:solidFill>
                  <a:srgbClr val="CBD5E1"/>
                </a:solidFill>
              </a:rPr>
              <a:t>Normal computers are BLUE. Servers are YELLOW. Infected/attacker computers glow RED!</a:t>
            </a:r>
          </a:p>
          <a:p>
            <a:pPr>
              <a:spcAft>
                <a:spcPts val="1000"/>
              </a:spcAft>
              <a:defRPr sz="1200">
                <a:latin typeface="Arial"/>
              </a:defRPr>
            </a:pPr>
            <a:r>
              <a:rPr b="1">
                <a:solidFill>
                  <a:srgbClr val="38BDF8"/>
                </a:solidFill>
              </a:rPr>
              <a:t>• </a:t>
            </a:r>
            <a:r>
              <a:rPr b="1">
                <a:solidFill>
                  <a:srgbClr val="F8FAFC"/>
                </a:solidFill>
              </a:rPr>
              <a:t>Drag &amp; Explore: </a:t>
            </a:r>
            <a:r>
              <a:rPr b="0">
                <a:solidFill>
                  <a:srgbClr val="CBD5E1"/>
                </a:solidFill>
              </a:rPr>
              <a:t>You can zoom in, zoom out, drag computers around, and rearrange the view with your mouse.</a:t>
            </a:r>
          </a:p>
          <a:p>
            <a:pPr>
              <a:spcAft>
                <a:spcPts val="1000"/>
              </a:spcAft>
              <a:defRPr sz="1200">
                <a:latin typeface="Arial"/>
              </a:defRPr>
            </a:pPr>
            <a:r>
              <a:rPr b="1">
                <a:solidFill>
                  <a:srgbClr val="38BDF8"/>
                </a:solidFill>
              </a:rPr>
              <a:t>• </a:t>
            </a:r>
            <a:r>
              <a:rPr b="1">
                <a:solidFill>
                  <a:srgbClr val="F8FAFC"/>
                </a:solidFill>
              </a:rPr>
              <a:t>Different Layout Styles: </a:t>
            </a:r>
            <a:r>
              <a:rPr b="0">
                <a:solidFill>
                  <a:srgbClr val="CBD5E1"/>
                </a:solidFill>
              </a:rPr>
              <a:t>Switch between physics layout, circle layout, or grid layout with one button.</a:t>
            </a:r>
          </a:p>
        </p:txBody>
      </p:sp>
      <p:sp>
        <p:nvSpPr>
          <p:cNvPr id="9" name="Rounded Rectangle 8"/>
          <p:cNvSpPr/>
          <p:nvPr/>
        </p:nvSpPr>
        <p:spPr>
          <a:xfrm>
            <a:off x="6217920" y="1463040"/>
            <a:ext cx="52120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200055"/>
          </a:xfrm>
          <a:prstGeom prst="rect">
            <a:avLst/>
          </a:prstGeom>
          <a:noFill/>
        </p:spPr>
        <p:txBody>
          <a:bodyPr wrap="square" lIns="0" tIns="0" rIns="0" bIns="0" anchor="t">
            <a:spAutoFit/>
          </a:bodyPr>
          <a:lstStyle/>
          <a:p>
            <a:pPr>
              <a:defRPr sz="1300" b="1">
                <a:solidFill>
                  <a:srgbClr val="10B981"/>
                </a:solidFill>
                <a:latin typeface="Arial"/>
              </a:defRPr>
            </a:pPr>
            <a:r>
              <a:rPr lang="en-US"/>
              <a:t>    </a:t>
            </a:r>
            <a:r>
              <a:t>Click to Inspect Any Computer</a:t>
            </a:r>
          </a:p>
        </p:txBody>
      </p:sp>
      <p:sp>
        <p:nvSpPr>
          <p:cNvPr id="11" name="TextBox 10"/>
          <p:cNvSpPr txBox="1"/>
          <p:nvPr/>
        </p:nvSpPr>
        <p:spPr>
          <a:xfrm>
            <a:off x="6400800" y="2011680"/>
            <a:ext cx="484632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Side Information Drawer: </a:t>
            </a:r>
            <a:r>
              <a:rPr b="0">
                <a:solidFill>
                  <a:srgbClr val="CBD5E1"/>
                </a:solidFill>
              </a:rPr>
              <a:t>Clicking any computer bubble opens a panel showing its IP address, hostname, and role.</a:t>
            </a:r>
          </a:p>
          <a:p>
            <a:pPr>
              <a:spcAft>
                <a:spcPts val="1000"/>
              </a:spcAft>
              <a:defRPr sz="1200">
                <a:latin typeface="Arial"/>
              </a:defRPr>
            </a:pPr>
            <a:r>
              <a:rPr b="1">
                <a:solidFill>
                  <a:srgbClr val="38BDF8"/>
                </a:solidFill>
              </a:rPr>
              <a:t>• </a:t>
            </a:r>
            <a:r>
              <a:rPr b="1">
                <a:solidFill>
                  <a:srgbClr val="F8FAFC"/>
                </a:solidFill>
              </a:rPr>
              <a:t>See Who It Talked To: </a:t>
            </a:r>
            <a:r>
              <a:rPr b="0">
                <a:solidFill>
                  <a:srgbClr val="CBD5E1"/>
                </a:solidFill>
              </a:rPr>
              <a:t>Shows total connections sent and received, and any alerts linked to that device.</a:t>
            </a:r>
          </a:p>
          <a:p>
            <a:pPr>
              <a:spcAft>
                <a:spcPts val="1000"/>
              </a:spcAft>
              <a:defRPr sz="1200">
                <a:latin typeface="Arial"/>
              </a:defRPr>
            </a:pPr>
            <a:r>
              <a:rPr b="1">
                <a:solidFill>
                  <a:srgbClr val="38BDF8"/>
                </a:solidFill>
              </a:rPr>
              <a:t>• </a:t>
            </a:r>
            <a:r>
              <a:rPr b="1">
                <a:solidFill>
                  <a:srgbClr val="F8FAFC"/>
                </a:solidFill>
              </a:rPr>
              <a:t>Exposes the Attack Path: </a:t>
            </a:r>
            <a:r>
              <a:rPr b="0">
                <a:solidFill>
                  <a:srgbClr val="CBD5E1"/>
                </a:solidFill>
              </a:rPr>
              <a:t>You can visually trace the line from the red infected laptop to the external hacker server!</a:t>
            </a:r>
          </a:p>
          <a:p>
            <a:pPr>
              <a:spcAft>
                <a:spcPts val="1000"/>
              </a:spcAft>
              <a:defRPr sz="1200">
                <a:latin typeface="Arial"/>
              </a:defRPr>
            </a:pPr>
            <a:r>
              <a:rPr b="1">
                <a:solidFill>
                  <a:srgbClr val="38BDF8"/>
                </a:solidFill>
              </a:rPr>
              <a:t>• </a:t>
            </a:r>
            <a:r>
              <a:rPr b="1">
                <a:solidFill>
                  <a:srgbClr val="F8FAFC"/>
                </a:solidFill>
              </a:rPr>
              <a:t>Great for Non-Technical Leaders: </a:t>
            </a:r>
            <a:r>
              <a:rPr b="0">
                <a:solidFill>
                  <a:srgbClr val="CBD5E1"/>
                </a:solidFill>
              </a:rPr>
              <a:t>Makes it easy to explain an incident to non-technical college principals or deans.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Investigation Workspace: Managing Cases</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320040"/>
          </a:xfrm>
          <a:prstGeom prst="rect">
            <a:avLst/>
          </a:prstGeom>
          <a:noFill/>
        </p:spPr>
        <p:txBody>
          <a:bodyPr wrap="square" lIns="0" tIns="0" rIns="0" bIns="0">
            <a:spAutoFit/>
          </a:bodyPr>
          <a:lstStyle/>
          <a:p>
            <a:pPr>
              <a:defRPr sz="1300" b="1">
                <a:solidFill>
                  <a:srgbClr val="38BDF8"/>
                </a:solidFill>
                <a:latin typeface="Arial"/>
              </a:defRPr>
            </a:pPr>
            <a:r>
              <a:t>1. Create an Investigation Case</a:t>
            </a:r>
          </a:p>
        </p:txBody>
      </p:sp>
      <p:sp>
        <p:nvSpPr>
          <p:cNvPr id="8" name="TextBox 7"/>
          <p:cNvSpPr txBox="1"/>
          <p:nvPr/>
        </p:nvSpPr>
        <p:spPr>
          <a:xfrm>
            <a:off x="914400" y="1965960"/>
            <a:ext cx="475488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Organized Cases: </a:t>
            </a:r>
            <a:r>
              <a:rPr b="0">
                <a:solidFill>
                  <a:srgbClr val="CBD5E1"/>
                </a:solidFill>
              </a:rPr>
              <a:t>Create a named case like 'Library Wi-Fi Incident - Oct 15' with an assigned analyst name.</a:t>
            </a:r>
          </a:p>
          <a:p>
            <a:pPr>
              <a:spcAft>
                <a:spcPts val="1000"/>
              </a:spcAft>
              <a:defRPr sz="1200">
                <a:latin typeface="Arial"/>
              </a:defRPr>
            </a:pPr>
            <a:r>
              <a:rPr b="1">
                <a:solidFill>
                  <a:srgbClr val="38BDF8"/>
                </a:solidFill>
              </a:rPr>
              <a:t>• </a:t>
            </a:r>
            <a:r>
              <a:rPr b="1">
                <a:solidFill>
                  <a:srgbClr val="F8FAFC"/>
                </a:solidFill>
              </a:rPr>
              <a:t>Time Framing: </a:t>
            </a:r>
            <a:r>
              <a:rPr b="0">
                <a:solidFill>
                  <a:srgbClr val="CBD5E1"/>
                </a:solidFill>
              </a:rPr>
              <a:t>Set a specific time window to focus only on the incident hours.</a:t>
            </a:r>
          </a:p>
        </p:txBody>
      </p:sp>
      <p:sp>
        <p:nvSpPr>
          <p:cNvPr id="9" name="Rounded Rectangle 8"/>
          <p:cNvSpPr/>
          <p:nvPr/>
        </p:nvSpPr>
        <p:spPr>
          <a:xfrm>
            <a:off x="6217920" y="1463040"/>
            <a:ext cx="521208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320040"/>
          </a:xfrm>
          <a:prstGeom prst="rect">
            <a:avLst/>
          </a:prstGeom>
          <a:noFill/>
        </p:spPr>
        <p:txBody>
          <a:bodyPr wrap="square" lIns="0" tIns="0" rIns="0" bIns="0">
            <a:spAutoFit/>
          </a:bodyPr>
          <a:lstStyle/>
          <a:p>
            <a:pPr>
              <a:defRPr sz="1300" b="1">
                <a:solidFill>
                  <a:srgbClr val="F59E0B"/>
                </a:solidFill>
                <a:latin typeface="Arial"/>
              </a:defRPr>
            </a:pPr>
            <a:r>
              <a:t>2. Pinning Evidence</a:t>
            </a:r>
          </a:p>
        </p:txBody>
      </p:sp>
      <p:sp>
        <p:nvSpPr>
          <p:cNvPr id="11" name="TextBox 10"/>
          <p:cNvSpPr txBox="1"/>
          <p:nvPr/>
        </p:nvSpPr>
        <p:spPr>
          <a:xfrm>
            <a:off x="6400800" y="1965960"/>
            <a:ext cx="484632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Bookmark Evidence: </a:t>
            </a:r>
            <a:r>
              <a:rPr b="0">
                <a:solidFill>
                  <a:srgbClr val="CBD5E1"/>
                </a:solidFill>
              </a:rPr>
              <a:t>Pin suspicious events and suspect computer IPs directly into the case folder.</a:t>
            </a:r>
          </a:p>
          <a:p>
            <a:pPr>
              <a:spcAft>
                <a:spcPts val="1000"/>
              </a:spcAft>
              <a:defRPr sz="1200">
                <a:latin typeface="Arial"/>
              </a:defRPr>
            </a:pPr>
            <a:r>
              <a:rPr b="1">
                <a:solidFill>
                  <a:srgbClr val="38BDF8"/>
                </a:solidFill>
              </a:rPr>
              <a:t>• </a:t>
            </a:r>
            <a:r>
              <a:rPr b="1">
                <a:solidFill>
                  <a:srgbClr val="F8FAFC"/>
                </a:solidFill>
              </a:rPr>
              <a:t>Clean Sub-Timeline: </a:t>
            </a:r>
            <a:r>
              <a:rPr b="0">
                <a:solidFill>
                  <a:srgbClr val="CBD5E1"/>
                </a:solidFill>
              </a:rPr>
              <a:t>View an isolated timeline containing only the bookmarked evidence.</a:t>
            </a:r>
          </a:p>
        </p:txBody>
      </p:sp>
      <p:sp>
        <p:nvSpPr>
          <p:cNvPr id="12" name="Rounded Rectangle 11"/>
          <p:cNvSpPr/>
          <p:nvPr/>
        </p:nvSpPr>
        <p:spPr>
          <a:xfrm>
            <a:off x="731520" y="3977639"/>
            <a:ext cx="512064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142231"/>
            <a:ext cx="4754880" cy="320040"/>
          </a:xfrm>
          <a:prstGeom prst="rect">
            <a:avLst/>
          </a:prstGeom>
          <a:noFill/>
        </p:spPr>
        <p:txBody>
          <a:bodyPr wrap="square" lIns="0" tIns="0" rIns="0" bIns="0">
            <a:spAutoFit/>
          </a:bodyPr>
          <a:lstStyle/>
          <a:p>
            <a:pPr>
              <a:defRPr sz="1300" b="1">
                <a:solidFill>
                  <a:srgbClr val="10B981"/>
                </a:solidFill>
                <a:latin typeface="Arial"/>
              </a:defRPr>
            </a:pPr>
            <a:r>
              <a:t>3. Writing Analyst Notes</a:t>
            </a:r>
          </a:p>
        </p:txBody>
      </p:sp>
      <p:sp>
        <p:nvSpPr>
          <p:cNvPr id="14" name="TextBox 13"/>
          <p:cNvSpPr txBox="1"/>
          <p:nvPr/>
        </p:nvSpPr>
        <p:spPr>
          <a:xfrm>
            <a:off x="914400" y="4480559"/>
            <a:ext cx="475488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Document Findings: </a:t>
            </a:r>
            <a:r>
              <a:rPr b="0">
                <a:solidFill>
                  <a:srgbClr val="CBD5E1"/>
                </a:solidFill>
              </a:rPr>
              <a:t>Write down what was discovered, what action was taken, and recommendations.</a:t>
            </a:r>
          </a:p>
          <a:p>
            <a:pPr>
              <a:spcAft>
                <a:spcPts val="1000"/>
              </a:spcAft>
              <a:defRPr sz="1200">
                <a:latin typeface="Arial"/>
              </a:defRPr>
            </a:pPr>
            <a:r>
              <a:rPr b="1">
                <a:solidFill>
                  <a:srgbClr val="38BDF8"/>
                </a:solidFill>
              </a:rPr>
              <a:t>• </a:t>
            </a:r>
            <a:r>
              <a:rPr b="1">
                <a:solidFill>
                  <a:srgbClr val="F8FAFC"/>
                </a:solidFill>
              </a:rPr>
              <a:t>Official Record: </a:t>
            </a:r>
            <a:r>
              <a:rPr b="0">
                <a:solidFill>
                  <a:srgbClr val="CBD5E1"/>
                </a:solidFill>
              </a:rPr>
              <a:t>Notes are permanently saved and included in the final report.</a:t>
            </a:r>
          </a:p>
        </p:txBody>
      </p:sp>
      <p:sp>
        <p:nvSpPr>
          <p:cNvPr id="15" name="Rounded Rectangle 14"/>
          <p:cNvSpPr/>
          <p:nvPr/>
        </p:nvSpPr>
        <p:spPr>
          <a:xfrm>
            <a:off x="6217920" y="3977639"/>
            <a:ext cx="5212080" cy="23317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4142231"/>
            <a:ext cx="4846320" cy="320040"/>
          </a:xfrm>
          <a:prstGeom prst="rect">
            <a:avLst/>
          </a:prstGeom>
          <a:noFill/>
        </p:spPr>
        <p:txBody>
          <a:bodyPr wrap="square" lIns="0" tIns="0" rIns="0" bIns="0">
            <a:spAutoFit/>
          </a:bodyPr>
          <a:lstStyle/>
          <a:p>
            <a:pPr>
              <a:defRPr sz="1300" b="1">
                <a:solidFill>
                  <a:srgbClr val="1E3A8A"/>
                </a:solidFill>
                <a:latin typeface="Arial"/>
              </a:defRPr>
            </a:pPr>
            <a:r>
              <a:t>4. Alert Triage Lifecycle</a:t>
            </a:r>
          </a:p>
        </p:txBody>
      </p:sp>
      <p:sp>
        <p:nvSpPr>
          <p:cNvPr id="17" name="TextBox 16"/>
          <p:cNvSpPr txBox="1"/>
          <p:nvPr/>
        </p:nvSpPr>
        <p:spPr>
          <a:xfrm>
            <a:off x="6400800" y="4480559"/>
            <a:ext cx="4846320" cy="178308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Simple Status Buttons: </a:t>
            </a:r>
            <a:r>
              <a:rPr b="0">
                <a:solidFill>
                  <a:srgbClr val="CBD5E1"/>
                </a:solidFill>
              </a:rPr>
              <a:t>Move alerts through clear stages: Open -&gt; Acknowledged -&gt; Resolved -&gt; False Positive.</a:t>
            </a:r>
          </a:p>
          <a:p>
            <a:pPr>
              <a:spcAft>
                <a:spcPts val="1000"/>
              </a:spcAft>
              <a:defRPr sz="1200">
                <a:latin typeface="Arial"/>
              </a:defRPr>
            </a:pPr>
            <a:r>
              <a:rPr b="1">
                <a:solidFill>
                  <a:srgbClr val="38BDF8"/>
                </a:solidFill>
              </a:rPr>
              <a:t>• </a:t>
            </a:r>
            <a:r>
              <a:rPr b="1">
                <a:solidFill>
                  <a:srgbClr val="F8FAFC"/>
                </a:solidFill>
              </a:rPr>
              <a:t>No Confusion: </a:t>
            </a:r>
            <a:r>
              <a:rPr b="0">
                <a:solidFill>
                  <a:srgbClr val="CBD5E1"/>
                </a:solidFill>
              </a:rPr>
              <a:t>Ensures team members don't duplicate work on the same incident.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1-Click PDF Incident Report Generator</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200055"/>
          </a:xfrm>
          <a:prstGeom prst="rect">
            <a:avLst/>
          </a:prstGeom>
          <a:noFill/>
        </p:spPr>
        <p:txBody>
          <a:bodyPr wrap="square" lIns="0" tIns="0" rIns="0" bIns="0" anchor="t">
            <a:spAutoFit/>
          </a:bodyPr>
          <a:lstStyle/>
          <a:p>
            <a:pPr>
              <a:defRPr sz="1300" b="1">
                <a:solidFill>
                  <a:srgbClr val="38BDF8"/>
                </a:solidFill>
                <a:latin typeface="Arial"/>
              </a:defRPr>
            </a:pPr>
            <a:r>
              <a:rPr lang="en-US" dirty="0"/>
              <a:t>    </a:t>
            </a:r>
            <a:r>
              <a:t>What is in the PDF Report?</a:t>
            </a:r>
          </a:p>
        </p:txBody>
      </p:sp>
      <p:sp>
        <p:nvSpPr>
          <p:cNvPr id="8" name="TextBox 7"/>
          <p:cNvSpPr txBox="1"/>
          <p:nvPr/>
        </p:nvSpPr>
        <p:spPr>
          <a:xfrm>
            <a:off x="914400" y="2011680"/>
            <a:ext cx="475488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Executive Summary: </a:t>
            </a:r>
            <a:r>
              <a:rPr b="0">
                <a:solidFill>
                  <a:srgbClr val="CBD5E1"/>
                </a:solidFill>
              </a:rPr>
              <a:t>A high-level summary explaining what happened, how many computers were affected, and the risk level.</a:t>
            </a:r>
          </a:p>
          <a:p>
            <a:pPr>
              <a:spcAft>
                <a:spcPts val="1000"/>
              </a:spcAft>
              <a:defRPr sz="1200">
                <a:latin typeface="Arial"/>
              </a:defRPr>
            </a:pPr>
            <a:r>
              <a:rPr b="1">
                <a:solidFill>
                  <a:srgbClr val="38BDF8"/>
                </a:solidFill>
              </a:rPr>
              <a:t>• </a:t>
            </a:r>
            <a:r>
              <a:rPr b="1">
                <a:solidFill>
                  <a:srgbClr val="F8FAFC"/>
                </a:solidFill>
              </a:rPr>
              <a:t>Incident Metadata: </a:t>
            </a:r>
            <a:r>
              <a:rPr b="0">
                <a:solidFill>
                  <a:srgbClr val="CBD5E1"/>
                </a:solidFill>
              </a:rPr>
              <a:t>Date, time range, analyst name, and official confidentiality header.</a:t>
            </a:r>
          </a:p>
          <a:p>
            <a:pPr>
              <a:spcAft>
                <a:spcPts val="1000"/>
              </a:spcAft>
              <a:defRPr sz="1200">
                <a:latin typeface="Arial"/>
              </a:defRPr>
            </a:pPr>
            <a:r>
              <a:rPr b="1">
                <a:solidFill>
                  <a:srgbClr val="38BDF8"/>
                </a:solidFill>
              </a:rPr>
              <a:t>• </a:t>
            </a:r>
            <a:r>
              <a:rPr b="1">
                <a:solidFill>
                  <a:srgbClr val="F8FAFC"/>
                </a:solidFill>
              </a:rPr>
              <a:t>Formatted Timeline Table: </a:t>
            </a:r>
            <a:r>
              <a:rPr b="0">
                <a:solidFill>
                  <a:srgbClr val="CBD5E1"/>
                </a:solidFill>
              </a:rPr>
              <a:t>A neat table listing all attack events in order of time with source IP, destination IP, port, and protocol.</a:t>
            </a:r>
          </a:p>
          <a:p>
            <a:pPr>
              <a:spcAft>
                <a:spcPts val="1000"/>
              </a:spcAft>
              <a:defRPr sz="1200">
                <a:latin typeface="Arial"/>
              </a:defRPr>
            </a:pPr>
            <a:r>
              <a:rPr b="1">
                <a:solidFill>
                  <a:srgbClr val="38BDF8"/>
                </a:solidFill>
              </a:rPr>
              <a:t>• </a:t>
            </a:r>
            <a:r>
              <a:rPr b="1">
                <a:solidFill>
                  <a:srgbClr val="F8FAFC"/>
                </a:solidFill>
              </a:rPr>
              <a:t>Triggered Alerts Breakdown: </a:t>
            </a:r>
            <a:r>
              <a:rPr b="0">
                <a:solidFill>
                  <a:srgbClr val="CBD5E1"/>
                </a:solidFill>
              </a:rPr>
              <a:t>Lists all security rules that were triggered along with the technical evidence.</a:t>
            </a:r>
          </a:p>
          <a:p>
            <a:pPr>
              <a:spcAft>
                <a:spcPts val="1000"/>
              </a:spcAft>
              <a:defRPr sz="1200">
                <a:latin typeface="Arial"/>
              </a:defRPr>
            </a:pPr>
            <a:r>
              <a:rPr b="1">
                <a:solidFill>
                  <a:srgbClr val="38BDF8"/>
                </a:solidFill>
              </a:rPr>
              <a:t>• </a:t>
            </a:r>
            <a:r>
              <a:rPr b="1">
                <a:solidFill>
                  <a:srgbClr val="F8FAFC"/>
                </a:solidFill>
              </a:rPr>
              <a:t>Analyst Notes &amp; Recommendations: </a:t>
            </a:r>
            <a:r>
              <a:rPr b="0">
                <a:solidFill>
                  <a:srgbClr val="CBD5E1"/>
                </a:solidFill>
              </a:rPr>
              <a:t>Includes recommendations on how to block the attacker and secure the network.</a:t>
            </a:r>
          </a:p>
        </p:txBody>
      </p:sp>
      <p:sp>
        <p:nvSpPr>
          <p:cNvPr id="9" name="Rounded Rectangle 8"/>
          <p:cNvSpPr/>
          <p:nvPr/>
        </p:nvSpPr>
        <p:spPr>
          <a:xfrm>
            <a:off x="6217920" y="1463040"/>
            <a:ext cx="5212080" cy="484632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200055"/>
          </a:xfrm>
          <a:prstGeom prst="rect">
            <a:avLst/>
          </a:prstGeom>
          <a:noFill/>
        </p:spPr>
        <p:txBody>
          <a:bodyPr wrap="square" lIns="0" tIns="0" rIns="0" bIns="0" anchor="t">
            <a:spAutoFit/>
          </a:bodyPr>
          <a:lstStyle/>
          <a:p>
            <a:pPr>
              <a:defRPr sz="1300" b="1">
                <a:solidFill>
                  <a:srgbClr val="10B981"/>
                </a:solidFill>
                <a:latin typeface="Arial"/>
              </a:defRPr>
            </a:pPr>
            <a:r>
              <a:rPr lang="en-US" dirty="0"/>
              <a:t>    </a:t>
            </a:r>
            <a:r>
              <a:t>Data Exports (CSV &amp; JSON)</a:t>
            </a:r>
          </a:p>
        </p:txBody>
      </p:sp>
      <p:sp>
        <p:nvSpPr>
          <p:cNvPr id="11" name="TextBox 10"/>
          <p:cNvSpPr txBox="1"/>
          <p:nvPr/>
        </p:nvSpPr>
        <p:spPr>
          <a:xfrm>
            <a:off x="6400800" y="2011680"/>
            <a:ext cx="4846320" cy="41148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Instant PDF Download: </a:t>
            </a:r>
            <a:r>
              <a:rPr b="0">
                <a:solidFill>
                  <a:srgbClr val="CBD5E1"/>
                </a:solidFill>
              </a:rPr>
              <a:t>Built using Python ReportLab. Generates a clean, printable PDF in under 2 seconds.</a:t>
            </a:r>
          </a:p>
          <a:p>
            <a:pPr>
              <a:spcAft>
                <a:spcPts val="1000"/>
              </a:spcAft>
              <a:defRPr sz="1200">
                <a:latin typeface="Arial"/>
              </a:defRPr>
            </a:pPr>
            <a:r>
              <a:rPr b="1">
                <a:solidFill>
                  <a:srgbClr val="38BDF8"/>
                </a:solidFill>
              </a:rPr>
              <a:t>• </a:t>
            </a:r>
            <a:r>
              <a:rPr b="1">
                <a:solidFill>
                  <a:srgbClr val="F8FAFC"/>
                </a:solidFill>
              </a:rPr>
              <a:t>CSV Export: </a:t>
            </a:r>
            <a:r>
              <a:rPr b="0">
                <a:solidFill>
                  <a:srgbClr val="CBD5E1"/>
                </a:solidFill>
              </a:rPr>
              <a:t>Download events into an Excel-compatible CSV file for offline viewing or printing.</a:t>
            </a:r>
          </a:p>
          <a:p>
            <a:pPr>
              <a:spcAft>
                <a:spcPts val="1000"/>
              </a:spcAft>
              <a:defRPr sz="1200">
                <a:latin typeface="Arial"/>
              </a:defRPr>
            </a:pPr>
            <a:r>
              <a:rPr b="1">
                <a:solidFill>
                  <a:srgbClr val="38BDF8"/>
                </a:solidFill>
              </a:rPr>
              <a:t>• </a:t>
            </a:r>
            <a:r>
              <a:rPr b="1">
                <a:solidFill>
                  <a:srgbClr val="F8FAFC"/>
                </a:solidFill>
              </a:rPr>
              <a:t>JSON Export: </a:t>
            </a:r>
            <a:r>
              <a:rPr b="0">
                <a:solidFill>
                  <a:srgbClr val="CBD5E1"/>
                </a:solidFill>
              </a:rPr>
              <a:t>Export clean JSON data to feed into external tools like Splunk or Elasticsearch.</a:t>
            </a:r>
          </a:p>
          <a:p>
            <a:pPr>
              <a:spcAft>
                <a:spcPts val="1000"/>
              </a:spcAft>
              <a:defRPr sz="1200">
                <a:latin typeface="Arial"/>
              </a:defRPr>
            </a:pPr>
            <a:r>
              <a:rPr b="1">
                <a:solidFill>
                  <a:srgbClr val="38BDF8"/>
                </a:solidFill>
              </a:rPr>
              <a:t>• </a:t>
            </a:r>
            <a:r>
              <a:rPr b="1">
                <a:solidFill>
                  <a:srgbClr val="F8FAFC"/>
                </a:solidFill>
              </a:rPr>
              <a:t>No Third-Party Cloud Needed: </a:t>
            </a:r>
            <a:r>
              <a:rPr b="0">
                <a:solidFill>
                  <a:srgbClr val="CBD5E1"/>
                </a:solidFill>
              </a:rPr>
              <a:t>The PDF is created locally on your computer with complete privacy.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Testing &amp; Proof: 100% Passed (68 Tests)</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10728655" cy="109728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10362895" cy="320040"/>
          </a:xfrm>
          <a:prstGeom prst="rect">
            <a:avLst/>
          </a:prstGeom>
          <a:noFill/>
        </p:spPr>
        <p:txBody>
          <a:bodyPr wrap="square" lIns="0" tIns="0" rIns="0" bIns="0">
            <a:spAutoFit/>
          </a:bodyPr>
          <a:lstStyle/>
          <a:p>
            <a:pPr>
              <a:defRPr sz="1300" b="1">
                <a:solidFill>
                  <a:srgbClr val="10B981"/>
                </a:solidFill>
                <a:latin typeface="Arial"/>
              </a:defRPr>
            </a:pPr>
            <a:r>
              <a:t>Automated Pytest Results: 68 / 68 Tests Passed Successfully</a:t>
            </a:r>
          </a:p>
        </p:txBody>
      </p:sp>
      <p:sp>
        <p:nvSpPr>
          <p:cNvPr id="8" name="TextBox 7"/>
          <p:cNvSpPr txBox="1"/>
          <p:nvPr/>
        </p:nvSpPr>
        <p:spPr>
          <a:xfrm>
            <a:off x="914400" y="1920240"/>
            <a:ext cx="10332720" cy="548640"/>
          </a:xfrm>
          <a:prstGeom prst="rect">
            <a:avLst/>
          </a:prstGeom>
          <a:noFill/>
        </p:spPr>
        <p:txBody>
          <a:bodyPr wrap="none">
            <a:spAutoFit/>
          </a:bodyPr>
          <a:lstStyle/>
          <a:p>
            <a:pPr>
              <a:defRPr sz="1200" b="1">
                <a:solidFill>
                  <a:srgbClr val="F8FAFC"/>
                </a:solidFill>
                <a:latin typeface="Arial"/>
              </a:defRPr>
            </a:pPr>
            <a:r>
              <a:t>We wrote 68 automated software tests. Every single test passed in under 13 seconds with ZERO errors.</a:t>
            </a:r>
          </a:p>
        </p:txBody>
      </p:sp>
      <p:sp>
        <p:nvSpPr>
          <p:cNvPr id="9" name="Rounded Rectangle 8"/>
          <p:cNvSpPr/>
          <p:nvPr/>
        </p:nvSpPr>
        <p:spPr>
          <a:xfrm>
            <a:off x="731520" y="2743200"/>
            <a:ext cx="2468880" cy="356616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907792"/>
            <a:ext cx="2103120" cy="320040"/>
          </a:xfrm>
          <a:prstGeom prst="rect">
            <a:avLst/>
          </a:prstGeom>
          <a:noFill/>
        </p:spPr>
        <p:txBody>
          <a:bodyPr wrap="square" lIns="0" tIns="0" rIns="0" bIns="0">
            <a:spAutoFit/>
          </a:bodyPr>
          <a:lstStyle/>
          <a:p>
            <a:pPr>
              <a:defRPr sz="1300" b="1">
                <a:solidFill>
                  <a:srgbClr val="38BDF8"/>
                </a:solidFill>
                <a:latin typeface="Arial"/>
              </a:defRPr>
            </a:pPr>
            <a:r>
              <a:t>File Parsers</a:t>
            </a:r>
          </a:p>
        </p:txBody>
      </p:sp>
      <p:sp>
        <p:nvSpPr>
          <p:cNvPr id="11" name="TextBox 10"/>
          <p:cNvSpPr txBox="1"/>
          <p:nvPr/>
        </p:nvSpPr>
        <p:spPr>
          <a:xfrm>
            <a:off x="868680" y="3154680"/>
            <a:ext cx="2194560" cy="274320"/>
          </a:xfrm>
          <a:prstGeom prst="rect">
            <a:avLst/>
          </a:prstGeom>
          <a:noFill/>
        </p:spPr>
        <p:txBody>
          <a:bodyPr wrap="none" lIns="0" tIns="0">
            <a:spAutoFit/>
          </a:bodyPr>
          <a:lstStyle/>
          <a:p>
            <a:pPr>
              <a:defRPr sz="900" b="1">
                <a:solidFill>
                  <a:srgbClr val="10B981"/>
                </a:solidFill>
                <a:latin typeface="Arial"/>
              </a:defRPr>
            </a:pPr>
            <a:r>
              <a:t>22 TESTS PASSED</a:t>
            </a:r>
          </a:p>
        </p:txBody>
      </p:sp>
      <p:sp>
        <p:nvSpPr>
          <p:cNvPr id="12" name="TextBox 11"/>
          <p:cNvSpPr txBox="1"/>
          <p:nvPr/>
        </p:nvSpPr>
        <p:spPr>
          <a:xfrm>
            <a:off x="868680" y="3474720"/>
            <a:ext cx="2194560" cy="27432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CSV &amp; JSON Parsing: </a:t>
            </a:r>
            <a:r>
              <a:rPr b="0">
                <a:solidFill>
                  <a:srgbClr val="CBD5E1"/>
                </a:solidFill>
              </a:rPr>
              <a:t>Tested with broken headers, missing data, and empty files.</a:t>
            </a:r>
          </a:p>
          <a:p>
            <a:pPr>
              <a:spcAft>
                <a:spcPts val="1000"/>
              </a:spcAft>
              <a:defRPr sz="1200">
                <a:latin typeface="Arial"/>
              </a:defRPr>
            </a:pPr>
            <a:r>
              <a:rPr b="1">
                <a:solidFill>
                  <a:srgbClr val="38BDF8"/>
                </a:solidFill>
              </a:rPr>
              <a:t>• </a:t>
            </a:r>
            <a:r>
              <a:rPr b="1">
                <a:solidFill>
                  <a:srgbClr val="F8FAFC"/>
                </a:solidFill>
              </a:rPr>
              <a:t>Time Cleaning: </a:t>
            </a:r>
            <a:r>
              <a:rPr b="0">
                <a:solidFill>
                  <a:srgbClr val="CBD5E1"/>
                </a:solidFill>
              </a:rPr>
              <a:t>Tested Unix timestamps and standard dates.</a:t>
            </a:r>
          </a:p>
          <a:p>
            <a:pPr>
              <a:spcAft>
                <a:spcPts val="1000"/>
              </a:spcAft>
              <a:defRPr sz="1200">
                <a:latin typeface="Arial"/>
              </a:defRPr>
            </a:pPr>
            <a:r>
              <a:rPr b="1">
                <a:solidFill>
                  <a:srgbClr val="38BDF8"/>
                </a:solidFill>
              </a:rPr>
              <a:t>• </a:t>
            </a:r>
            <a:r>
              <a:rPr b="1">
                <a:solidFill>
                  <a:srgbClr val="F8FAFC"/>
                </a:solidFill>
              </a:rPr>
              <a:t>IP Validation: </a:t>
            </a:r>
            <a:r>
              <a:rPr b="0">
                <a:solidFill>
                  <a:srgbClr val="CBD5E1"/>
                </a:solidFill>
              </a:rPr>
              <a:t>Verified real vs invalid IP addresses.</a:t>
            </a:r>
          </a:p>
        </p:txBody>
      </p:sp>
      <p:sp>
        <p:nvSpPr>
          <p:cNvPr id="13" name="Rounded Rectangle 12"/>
          <p:cNvSpPr/>
          <p:nvPr/>
        </p:nvSpPr>
        <p:spPr>
          <a:xfrm>
            <a:off x="3474720" y="2743200"/>
            <a:ext cx="2468880" cy="356616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2907792"/>
            <a:ext cx="2103120" cy="320040"/>
          </a:xfrm>
          <a:prstGeom prst="rect">
            <a:avLst/>
          </a:prstGeom>
          <a:noFill/>
        </p:spPr>
        <p:txBody>
          <a:bodyPr wrap="square" lIns="0" tIns="0" rIns="0" bIns="0">
            <a:spAutoFit/>
          </a:bodyPr>
          <a:lstStyle/>
          <a:p>
            <a:pPr>
              <a:defRPr sz="1300" b="1">
                <a:solidFill>
                  <a:srgbClr val="F59E0B"/>
                </a:solidFill>
                <a:latin typeface="Arial"/>
              </a:defRPr>
            </a:pPr>
            <a:r>
              <a:t>Timeline &amp; Linking</a:t>
            </a:r>
          </a:p>
        </p:txBody>
      </p:sp>
      <p:sp>
        <p:nvSpPr>
          <p:cNvPr id="15" name="TextBox 14"/>
          <p:cNvSpPr txBox="1"/>
          <p:nvPr/>
        </p:nvSpPr>
        <p:spPr>
          <a:xfrm>
            <a:off x="3611880" y="3154680"/>
            <a:ext cx="2194560" cy="274320"/>
          </a:xfrm>
          <a:prstGeom prst="rect">
            <a:avLst/>
          </a:prstGeom>
          <a:noFill/>
        </p:spPr>
        <p:txBody>
          <a:bodyPr wrap="none" lIns="0" tIns="0">
            <a:spAutoFit/>
          </a:bodyPr>
          <a:lstStyle/>
          <a:p>
            <a:pPr>
              <a:defRPr sz="900" b="1">
                <a:solidFill>
                  <a:srgbClr val="10B981"/>
                </a:solidFill>
                <a:latin typeface="Arial"/>
              </a:defRPr>
            </a:pPr>
            <a:r>
              <a:t>14 TESTS PASSED</a:t>
            </a:r>
          </a:p>
        </p:txBody>
      </p:sp>
      <p:sp>
        <p:nvSpPr>
          <p:cNvPr id="16" name="TextBox 15"/>
          <p:cNvSpPr txBox="1"/>
          <p:nvPr/>
        </p:nvSpPr>
        <p:spPr>
          <a:xfrm>
            <a:off x="3611880" y="3474720"/>
            <a:ext cx="2194560" cy="27432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Time Sorting: </a:t>
            </a:r>
            <a:r>
              <a:rPr b="0">
                <a:solidFill>
                  <a:srgbClr val="CBD5E1"/>
                </a:solidFill>
              </a:rPr>
              <a:t>Tested strict chronological sorting.</a:t>
            </a:r>
          </a:p>
          <a:p>
            <a:pPr>
              <a:spcAft>
                <a:spcPts val="1000"/>
              </a:spcAft>
              <a:defRPr sz="1200">
                <a:latin typeface="Arial"/>
              </a:defRPr>
            </a:pPr>
            <a:r>
              <a:rPr b="1">
                <a:solidFill>
                  <a:srgbClr val="38BDF8"/>
                </a:solidFill>
              </a:rPr>
              <a:t>• </a:t>
            </a:r>
            <a:r>
              <a:rPr b="1">
                <a:solidFill>
                  <a:srgbClr val="F8FAFC"/>
                </a:solidFill>
              </a:rPr>
              <a:t>Port Scan Links: </a:t>
            </a:r>
            <a:r>
              <a:rPr b="0">
                <a:solidFill>
                  <a:srgbClr val="CBD5E1"/>
                </a:solidFill>
              </a:rPr>
              <a:t>Confirmed scanning events link together.</a:t>
            </a:r>
          </a:p>
          <a:p>
            <a:pPr>
              <a:spcAft>
                <a:spcPts val="1000"/>
              </a:spcAft>
              <a:defRPr sz="1200">
                <a:latin typeface="Arial"/>
              </a:defRPr>
            </a:pPr>
            <a:r>
              <a:rPr b="1">
                <a:solidFill>
                  <a:srgbClr val="38BDF8"/>
                </a:solidFill>
              </a:rPr>
              <a:t>• </a:t>
            </a:r>
            <a:r>
              <a:rPr b="1">
                <a:solidFill>
                  <a:srgbClr val="F8FAFC"/>
                </a:solidFill>
              </a:rPr>
              <a:t>DNS Linking: </a:t>
            </a:r>
            <a:r>
              <a:rPr b="0">
                <a:solidFill>
                  <a:srgbClr val="CBD5E1"/>
                </a:solidFill>
              </a:rPr>
              <a:t>Verified domain lookups link to IP handshakes.</a:t>
            </a:r>
          </a:p>
        </p:txBody>
      </p:sp>
      <p:sp>
        <p:nvSpPr>
          <p:cNvPr id="17" name="Rounded Rectangle 16"/>
          <p:cNvSpPr/>
          <p:nvPr/>
        </p:nvSpPr>
        <p:spPr>
          <a:xfrm>
            <a:off x="6217920" y="2743200"/>
            <a:ext cx="2468880" cy="356616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2907792"/>
            <a:ext cx="2103120" cy="320040"/>
          </a:xfrm>
          <a:prstGeom prst="rect">
            <a:avLst/>
          </a:prstGeom>
          <a:noFill/>
        </p:spPr>
        <p:txBody>
          <a:bodyPr wrap="square" lIns="0" tIns="0" rIns="0" bIns="0">
            <a:spAutoFit/>
          </a:bodyPr>
          <a:lstStyle/>
          <a:p>
            <a:pPr>
              <a:defRPr sz="1300" b="1">
                <a:solidFill>
                  <a:srgbClr val="EF4444"/>
                </a:solidFill>
                <a:latin typeface="Arial"/>
              </a:defRPr>
            </a:pPr>
            <a:r>
              <a:t>Attack Detectors</a:t>
            </a:r>
          </a:p>
        </p:txBody>
      </p:sp>
      <p:sp>
        <p:nvSpPr>
          <p:cNvPr id="19" name="TextBox 18"/>
          <p:cNvSpPr txBox="1"/>
          <p:nvPr/>
        </p:nvSpPr>
        <p:spPr>
          <a:xfrm>
            <a:off x="6355080" y="3154680"/>
            <a:ext cx="2194560" cy="274320"/>
          </a:xfrm>
          <a:prstGeom prst="rect">
            <a:avLst/>
          </a:prstGeom>
          <a:noFill/>
        </p:spPr>
        <p:txBody>
          <a:bodyPr wrap="none" lIns="0" tIns="0">
            <a:spAutoFit/>
          </a:bodyPr>
          <a:lstStyle/>
          <a:p>
            <a:pPr>
              <a:defRPr sz="900" b="1">
                <a:solidFill>
                  <a:srgbClr val="10B981"/>
                </a:solidFill>
                <a:latin typeface="Arial"/>
              </a:defRPr>
            </a:pPr>
            <a:r>
              <a:t>9 TESTS PASSED</a:t>
            </a:r>
          </a:p>
        </p:txBody>
      </p:sp>
      <p:sp>
        <p:nvSpPr>
          <p:cNvPr id="20" name="TextBox 19"/>
          <p:cNvSpPr txBox="1"/>
          <p:nvPr/>
        </p:nvSpPr>
        <p:spPr>
          <a:xfrm>
            <a:off x="6355080" y="3474720"/>
            <a:ext cx="2194560" cy="27432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6 Threat Rules: </a:t>
            </a:r>
            <a:r>
              <a:rPr b="0">
                <a:solidFill>
                  <a:srgbClr val="CBD5E1"/>
                </a:solidFill>
              </a:rPr>
              <a:t>Tested all 6 rules with real and synthetic data.</a:t>
            </a:r>
          </a:p>
          <a:p>
            <a:pPr>
              <a:spcAft>
                <a:spcPts val="1000"/>
              </a:spcAft>
              <a:defRPr sz="1200">
                <a:latin typeface="Arial"/>
              </a:defRPr>
            </a:pPr>
            <a:r>
              <a:rPr b="1">
                <a:solidFill>
                  <a:srgbClr val="38BDF8"/>
                </a:solidFill>
              </a:rPr>
              <a:t>• </a:t>
            </a:r>
            <a:r>
              <a:rPr b="1">
                <a:solidFill>
                  <a:srgbClr val="F8FAFC"/>
                </a:solidFill>
              </a:rPr>
              <a:t>Custom Limits: </a:t>
            </a:r>
            <a:r>
              <a:rPr b="0">
                <a:solidFill>
                  <a:srgbClr val="CBD5E1"/>
                </a:solidFill>
              </a:rPr>
              <a:t>Tested changing settings in the GUI.</a:t>
            </a:r>
          </a:p>
          <a:p>
            <a:pPr>
              <a:spcAft>
                <a:spcPts val="1000"/>
              </a:spcAft>
              <a:defRPr sz="1200">
                <a:latin typeface="Arial"/>
              </a:defRPr>
            </a:pPr>
            <a:r>
              <a:rPr b="1">
                <a:solidFill>
                  <a:srgbClr val="38BDF8"/>
                </a:solidFill>
              </a:rPr>
              <a:t>• </a:t>
            </a:r>
            <a:r>
              <a:rPr b="1">
                <a:solidFill>
                  <a:srgbClr val="F8FAFC"/>
                </a:solidFill>
              </a:rPr>
              <a:t>Zero False Alarms: </a:t>
            </a:r>
            <a:r>
              <a:rPr b="0">
                <a:solidFill>
                  <a:srgbClr val="CBD5E1"/>
                </a:solidFill>
              </a:rPr>
              <a:t>Tested that normal browsing does NOT trigger alerts.</a:t>
            </a:r>
          </a:p>
        </p:txBody>
      </p:sp>
      <p:sp>
        <p:nvSpPr>
          <p:cNvPr id="21" name="Rounded Rectangle 20"/>
          <p:cNvSpPr/>
          <p:nvPr/>
        </p:nvSpPr>
        <p:spPr>
          <a:xfrm>
            <a:off x="8961120" y="2743200"/>
            <a:ext cx="2468880" cy="356616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0" y="2907792"/>
            <a:ext cx="2103120" cy="320040"/>
          </a:xfrm>
          <a:prstGeom prst="rect">
            <a:avLst/>
          </a:prstGeom>
          <a:noFill/>
        </p:spPr>
        <p:txBody>
          <a:bodyPr wrap="square" lIns="0" tIns="0" rIns="0" bIns="0">
            <a:spAutoFit/>
          </a:bodyPr>
          <a:lstStyle/>
          <a:p>
            <a:pPr>
              <a:defRPr sz="1300" b="1">
                <a:solidFill>
                  <a:srgbClr val="1E3A8A"/>
                </a:solidFill>
                <a:latin typeface="Arial"/>
              </a:defRPr>
            </a:pPr>
            <a:r>
              <a:t>APIs &amp; Reports</a:t>
            </a:r>
          </a:p>
        </p:txBody>
      </p:sp>
      <p:sp>
        <p:nvSpPr>
          <p:cNvPr id="23" name="TextBox 22"/>
          <p:cNvSpPr txBox="1"/>
          <p:nvPr/>
        </p:nvSpPr>
        <p:spPr>
          <a:xfrm>
            <a:off x="9098280" y="3154680"/>
            <a:ext cx="2194560" cy="274320"/>
          </a:xfrm>
          <a:prstGeom prst="rect">
            <a:avLst/>
          </a:prstGeom>
          <a:noFill/>
        </p:spPr>
        <p:txBody>
          <a:bodyPr wrap="none" lIns="0" tIns="0">
            <a:spAutoFit/>
          </a:bodyPr>
          <a:lstStyle/>
          <a:p>
            <a:pPr>
              <a:defRPr sz="900" b="1">
                <a:solidFill>
                  <a:srgbClr val="10B981"/>
                </a:solidFill>
                <a:latin typeface="Arial"/>
              </a:defRPr>
            </a:pPr>
            <a:r>
              <a:t>23 TESTS PASSED</a:t>
            </a:r>
          </a:p>
        </p:txBody>
      </p:sp>
      <p:sp>
        <p:nvSpPr>
          <p:cNvPr id="24" name="TextBox 23"/>
          <p:cNvSpPr txBox="1"/>
          <p:nvPr/>
        </p:nvSpPr>
        <p:spPr>
          <a:xfrm>
            <a:off x="9098280" y="3474720"/>
            <a:ext cx="2194560" cy="274320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All Web Routes: </a:t>
            </a:r>
            <a:r>
              <a:rPr b="0">
                <a:solidFill>
                  <a:srgbClr val="CBD5E1"/>
                </a:solidFill>
              </a:rPr>
              <a:t>Tested dashboard, upload, and timeline endpoints.</a:t>
            </a:r>
          </a:p>
          <a:p>
            <a:pPr>
              <a:spcAft>
                <a:spcPts val="1000"/>
              </a:spcAft>
              <a:defRPr sz="1200">
                <a:latin typeface="Arial"/>
              </a:defRPr>
            </a:pPr>
            <a:r>
              <a:rPr b="1">
                <a:solidFill>
                  <a:srgbClr val="38BDF8"/>
                </a:solidFill>
              </a:rPr>
              <a:t>• </a:t>
            </a:r>
            <a:r>
              <a:rPr b="1">
                <a:solidFill>
                  <a:srgbClr val="F8FAFC"/>
                </a:solidFill>
              </a:rPr>
              <a:t>PDF Generation: </a:t>
            </a:r>
            <a:r>
              <a:rPr b="0">
                <a:solidFill>
                  <a:srgbClr val="CBD5E1"/>
                </a:solidFill>
              </a:rPr>
              <a:t>Verified PDF report compiles without crashing.</a:t>
            </a:r>
          </a:p>
          <a:p>
            <a:pPr>
              <a:spcAft>
                <a:spcPts val="1000"/>
              </a:spcAft>
              <a:defRPr sz="1200">
                <a:latin typeface="Arial"/>
              </a:defRPr>
            </a:pPr>
            <a:r>
              <a:rPr b="1">
                <a:solidFill>
                  <a:srgbClr val="38BDF8"/>
                </a:solidFill>
              </a:rPr>
              <a:t>• </a:t>
            </a:r>
            <a:r>
              <a:rPr b="1">
                <a:solidFill>
                  <a:srgbClr val="F8FAFC"/>
                </a:solidFill>
              </a:rPr>
              <a:t>CSV Exports: </a:t>
            </a:r>
            <a:r>
              <a:rPr b="0">
                <a:solidFill>
                  <a:srgbClr val="CBD5E1"/>
                </a:solidFill>
              </a:rPr>
              <a:t>Checked tabular exports.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274320"/>
          </a:xfrm>
          <a:prstGeom prst="rect">
            <a:avLst/>
          </a:prstGeom>
          <a:noFill/>
        </p:spPr>
        <p:txBody>
          <a:bodyPr wrap="square" lIns="0" tIns="0" rIns="0" bIns="0">
            <a:spAutoFit/>
          </a:bodyPr>
          <a:lstStyle/>
          <a:p>
            <a:pPr>
              <a:defRPr sz="1000" b="1">
                <a:solidFill>
                  <a:srgbClr val="38BDF8"/>
                </a:solidFill>
                <a:latin typeface="Arial"/>
              </a:defRPr>
            </a:pPr>
            <a:r>
              <a:t>COLLEGE PROJECT • CYBER SECURITY</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F8FAFC"/>
                </a:solidFill>
                <a:latin typeface="Arial"/>
              </a:defRPr>
            </a:pPr>
            <a:r>
              <a:t>Project Summary, Future Plans &amp; Q&amp;A</a:t>
            </a:r>
          </a:p>
        </p:txBody>
      </p:sp>
      <p:sp>
        <p:nvSpPr>
          <p:cNvPr id="5" name="Rectangle 4"/>
          <p:cNvSpPr/>
          <p:nvPr/>
        </p:nvSpPr>
        <p:spPr>
          <a:xfrm>
            <a:off x="731520" y="123444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5120640" cy="329184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27632"/>
            <a:ext cx="4754880" cy="320040"/>
          </a:xfrm>
          <a:prstGeom prst="rect">
            <a:avLst/>
          </a:prstGeom>
          <a:noFill/>
        </p:spPr>
        <p:txBody>
          <a:bodyPr wrap="square" lIns="0" tIns="0" rIns="0" bIns="0">
            <a:spAutoFit/>
          </a:bodyPr>
          <a:lstStyle/>
          <a:p>
            <a:pPr>
              <a:defRPr sz="1300" b="1">
                <a:solidFill>
                  <a:srgbClr val="38BDF8"/>
                </a:solidFill>
                <a:latin typeface="Arial"/>
              </a:defRPr>
            </a:pPr>
            <a:r>
              <a:t>What We Plan to Add Next (Future Work)</a:t>
            </a:r>
          </a:p>
        </p:txBody>
      </p:sp>
      <p:sp>
        <p:nvSpPr>
          <p:cNvPr id="8" name="TextBox 7"/>
          <p:cNvSpPr txBox="1"/>
          <p:nvPr/>
        </p:nvSpPr>
        <p:spPr>
          <a:xfrm>
            <a:off x="914400" y="2011680"/>
            <a:ext cx="4754880" cy="256032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Machine Learning (AI): </a:t>
            </a:r>
            <a:r>
              <a:rPr b="0">
                <a:solidFill>
                  <a:srgbClr val="CBD5E1"/>
                </a:solidFill>
              </a:rPr>
              <a:t>Add AI algorithms to automatically detect brand new, unknown attack patterns without writing rules.</a:t>
            </a:r>
          </a:p>
          <a:p>
            <a:pPr>
              <a:spcAft>
                <a:spcPts val="1000"/>
              </a:spcAft>
              <a:defRPr sz="1200">
                <a:latin typeface="Arial"/>
              </a:defRPr>
            </a:pPr>
            <a:r>
              <a:rPr b="1">
                <a:solidFill>
                  <a:srgbClr val="38BDF8"/>
                </a:solidFill>
              </a:rPr>
              <a:t>• </a:t>
            </a:r>
            <a:r>
              <a:rPr b="1">
                <a:solidFill>
                  <a:srgbClr val="F8FAFC"/>
                </a:solidFill>
              </a:rPr>
              <a:t>Live Packet Sniffing: </a:t>
            </a:r>
            <a:r>
              <a:rPr b="0">
                <a:solidFill>
                  <a:srgbClr val="CBD5E1"/>
                </a:solidFill>
              </a:rPr>
              <a:t>Connect directly to campus Wi-Fi hardware to capture and analyze packets live.</a:t>
            </a:r>
          </a:p>
          <a:p>
            <a:pPr>
              <a:spcAft>
                <a:spcPts val="1000"/>
              </a:spcAft>
              <a:defRPr sz="1200">
                <a:latin typeface="Arial"/>
              </a:defRPr>
            </a:pPr>
            <a:r>
              <a:rPr b="1">
                <a:solidFill>
                  <a:srgbClr val="38BDF8"/>
                </a:solidFill>
              </a:rPr>
              <a:t>• </a:t>
            </a:r>
            <a:r>
              <a:rPr b="1">
                <a:solidFill>
                  <a:srgbClr val="F8FAFC"/>
                </a:solidFill>
              </a:rPr>
              <a:t>Threat Intelligence: </a:t>
            </a:r>
            <a:r>
              <a:rPr b="0">
                <a:solidFill>
                  <a:srgbClr val="CBD5E1"/>
                </a:solidFill>
              </a:rPr>
              <a:t>Automatically check unknown IP addresses against global blacklists (VirusTotal / AbuseIPDB).</a:t>
            </a:r>
          </a:p>
        </p:txBody>
      </p:sp>
      <p:sp>
        <p:nvSpPr>
          <p:cNvPr id="9" name="Rounded Rectangle 8"/>
          <p:cNvSpPr/>
          <p:nvPr/>
        </p:nvSpPr>
        <p:spPr>
          <a:xfrm>
            <a:off x="6217920" y="1463040"/>
            <a:ext cx="5212080" cy="3291840"/>
          </a:xfrm>
          <a:prstGeom prst="roundRect">
            <a:avLst/>
          </a:prstGeom>
          <a:solidFill>
            <a:srgbClr val="18202F"/>
          </a:solidFill>
          <a:ln w="1270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627632"/>
            <a:ext cx="4846320" cy="320040"/>
          </a:xfrm>
          <a:prstGeom prst="rect">
            <a:avLst/>
          </a:prstGeom>
          <a:noFill/>
        </p:spPr>
        <p:txBody>
          <a:bodyPr wrap="square" lIns="0" tIns="0" rIns="0" bIns="0">
            <a:spAutoFit/>
          </a:bodyPr>
          <a:lstStyle/>
          <a:p>
            <a:pPr>
              <a:defRPr sz="1300" b="1">
                <a:solidFill>
                  <a:srgbClr val="10B981"/>
                </a:solidFill>
                <a:latin typeface="Arial"/>
              </a:defRPr>
            </a:pPr>
            <a:r>
              <a:t>Key Takeaways (Conclusion)</a:t>
            </a:r>
          </a:p>
        </p:txBody>
      </p:sp>
      <p:sp>
        <p:nvSpPr>
          <p:cNvPr id="11" name="TextBox 10"/>
          <p:cNvSpPr txBox="1"/>
          <p:nvPr/>
        </p:nvSpPr>
        <p:spPr>
          <a:xfrm>
            <a:off x="6400800" y="2011680"/>
            <a:ext cx="4846320" cy="2560320"/>
          </a:xfrm>
          <a:prstGeom prst="rect">
            <a:avLst/>
          </a:prstGeom>
          <a:noFill/>
        </p:spPr>
        <p:txBody>
          <a:bodyPr wrap="square" lIns="0" tIns="0" rIns="0" bIns="0">
            <a:spAutoFit/>
          </a:bodyPr>
          <a:lstStyle/>
          <a:p>
            <a:pPr>
              <a:spcAft>
                <a:spcPts val="1000"/>
              </a:spcAft>
              <a:defRPr sz="1200">
                <a:latin typeface="Arial"/>
              </a:defRPr>
            </a:pPr>
            <a:r>
              <a:rPr b="1">
                <a:solidFill>
                  <a:srgbClr val="38BDF8"/>
                </a:solidFill>
              </a:rPr>
              <a:t>• </a:t>
            </a:r>
            <a:r>
              <a:rPr b="1">
                <a:solidFill>
                  <a:srgbClr val="F8FAFC"/>
                </a:solidFill>
              </a:rPr>
              <a:t>Fully Working Solution: </a:t>
            </a:r>
            <a:r>
              <a:rPr b="0">
                <a:solidFill>
                  <a:srgbClr val="CBD5E1"/>
                </a:solidFill>
              </a:rPr>
              <a:t>Delivered a complete, working platform for campus network incident response.</a:t>
            </a:r>
          </a:p>
          <a:p>
            <a:pPr>
              <a:spcAft>
                <a:spcPts val="1000"/>
              </a:spcAft>
              <a:defRPr sz="1200">
                <a:latin typeface="Arial"/>
              </a:defRPr>
            </a:pPr>
            <a:r>
              <a:rPr b="1">
                <a:solidFill>
                  <a:srgbClr val="38BDF8"/>
                </a:solidFill>
              </a:rPr>
              <a:t>• </a:t>
            </a:r>
            <a:r>
              <a:rPr b="1">
                <a:solidFill>
                  <a:srgbClr val="F8FAFC"/>
                </a:solidFill>
              </a:rPr>
              <a:t>Saves Time: </a:t>
            </a:r>
            <a:r>
              <a:rPr b="0">
                <a:solidFill>
                  <a:srgbClr val="CBD5E1"/>
                </a:solidFill>
              </a:rPr>
              <a:t>Reduces manual log reading from days down to a 3-minute visual investigation.</a:t>
            </a:r>
          </a:p>
          <a:p>
            <a:pPr>
              <a:spcAft>
                <a:spcPts val="1000"/>
              </a:spcAft>
              <a:defRPr sz="1200">
                <a:latin typeface="Arial"/>
              </a:defRPr>
            </a:pPr>
            <a:r>
              <a:rPr b="1">
                <a:solidFill>
                  <a:srgbClr val="38BDF8"/>
                </a:solidFill>
              </a:rPr>
              <a:t>• </a:t>
            </a:r>
            <a:r>
              <a:rPr b="1">
                <a:solidFill>
                  <a:srgbClr val="F8FAFC"/>
                </a:solidFill>
              </a:rPr>
              <a:t>100% Offline &amp; Private: </a:t>
            </a:r>
            <a:r>
              <a:rPr b="0">
                <a:solidFill>
                  <a:srgbClr val="CBD5E1"/>
                </a:solidFill>
              </a:rPr>
              <a:t>Safe for college use because student data never leaves the campus.</a:t>
            </a:r>
          </a:p>
        </p:txBody>
      </p:sp>
      <p:sp>
        <p:nvSpPr>
          <p:cNvPr id="12" name="Rounded Rectangle 11"/>
          <p:cNvSpPr/>
          <p:nvPr/>
        </p:nvSpPr>
        <p:spPr>
          <a:xfrm>
            <a:off x="731520" y="4937760"/>
            <a:ext cx="10728655" cy="1371600"/>
          </a:xfrm>
          <a:prstGeom prst="roundRect">
            <a:avLst/>
          </a:prstGeom>
          <a:solidFill>
            <a:srgbClr val="101728"/>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tIns="182880" rtlCol="0" anchor="ctr"/>
          <a:lstStyle/>
          <a:p>
            <a:pPr algn="ctr">
              <a:defRPr sz="2000" b="1">
                <a:solidFill>
                  <a:srgbClr val="F8FAFC"/>
                </a:solidFill>
                <a:latin typeface="Arial"/>
              </a:defRPr>
            </a:pPr>
            <a:r>
              <a:t>Thank You for Your Time &amp; Guidance</a:t>
            </a:r>
          </a:p>
          <a:p>
            <a:pPr algn="ctr">
              <a:defRPr sz="1300" b="1">
                <a:solidFill>
                  <a:srgbClr val="38BDF8"/>
                </a:solidFill>
                <a:latin typeface="Arial"/>
              </a:defRPr>
            </a:pPr>
            <a:r>
              <a:t>Questions &amp; Answers | Ready for Live Project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57</cp:revision>
  <dcterms:created xsi:type="dcterms:W3CDTF">2013-01-27T09:14:16Z</dcterms:created>
  <dcterms:modified xsi:type="dcterms:W3CDTF">2026-10-20T13:28:15Z</dcterms:modified>
  <cp:category/>
</cp:coreProperties>
</file>